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2" r:id="rId3"/>
    <p:sldId id="271" r:id="rId4"/>
    <p:sldId id="274" r:id="rId5"/>
    <p:sldId id="384" r:id="rId6"/>
    <p:sldId id="275" r:id="rId7"/>
    <p:sldId id="4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7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76CB-5369-C4BC-D36A-16B785D92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F7590-6C78-F9BD-C0CA-DB2152C7F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35AEE-4440-055C-AAC1-6B5C44B9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A9D98-B187-0007-76EE-3294E22E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B08B6-93A6-0226-8270-5435C0E6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5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034A-8291-9112-AD4D-FBBCDF9F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D6AE9-5FCC-30B8-0D1C-F743DA74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CBA41-D05F-8C52-C96C-A39D75F5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AFB4D-2B12-C193-FE9E-A89DDB36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BCB1-1F9F-CD30-0EAF-099E7729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1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BD52-31B2-3491-ED9C-D498C8C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5D3E1-6CF1-CC9B-6DF5-85A9834AB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E0C05-20CF-BA44-614D-8D4F8C3B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6AFAC-4B26-9987-68A3-D653A103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0C5F2-F511-2298-5B64-2763CCF9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3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2E65-91AC-9FF9-0914-6232793F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95A3E-4270-8A58-2B1A-51279F23D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FAF5-8D9F-8700-AA51-0D7BC842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72FAF-1547-B65E-AAD6-9F34CEE7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6DE7A-DD5D-4BDC-BDCB-60394096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C1117-E7D7-D1CF-3D50-D55D5DFD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5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1F92-9B41-FA25-4F48-C21AE6A2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406AA-7595-5ED8-4D11-9F856D21D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1A4D6-122F-020F-AF1E-E010BA187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E9010-96F7-FA6B-9660-0FAF14040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3C346-1413-51F4-7859-D7CC7F640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12C1C-20F5-10FF-3023-67B132BA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5BFAE-148A-4261-B4B4-07DD4BBD2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D94FE-32D3-6B81-D97D-61EE626A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8BA6-4837-CB99-092D-9C70A159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FE112-9043-68B9-BAB9-3FDD53AC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5EAE0-E71A-1C7C-E914-22D390C3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6DE9C-9F17-70C7-7B32-5896D81B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F4592-94B3-E2FC-BBD5-FCE1D9E4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2C77F3-A8CD-E32C-A1A9-15D2217F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1116-932E-2A8E-C07B-6290D7F9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7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60F8-102A-A693-DA98-D001E564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23D6-917F-B329-249C-7646373F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FA811-EA2C-6A2C-0B14-6630812B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C4CC3-8DCB-ACAB-77E0-B6C61678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054C1-F5AC-488D-9E2D-558CCC1A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7C952-9BCB-84DE-10A2-9020DB80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4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DC30-F4FC-3BE2-D56D-1662D374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B2548-B807-CF07-1BD4-1D1DAE673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EABDF-FE71-1884-F76E-C55765BEE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1F7A4-F44D-E929-5ECE-DD6B5E70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8E751-52C0-D4AB-2AC2-4A61DB9A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D5FB9-7C99-051A-D0AD-FDA0CD92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62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81E1-4CD3-EFBF-FEA1-3540B9B6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48AFD-FBC8-2127-80E3-B2B012064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6458B-CDA4-C463-2659-DFCBD493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8D47-4DE8-6F5E-A209-E58E2529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87F19-9E97-0F0C-1A81-E089957C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9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D7F83-7ED9-87BA-2154-1200F35C2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0DEFA-8B17-6BC4-DA2C-71D1FF7FA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46BAA-0C4F-8D04-F937-1B784BAB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0778C-5D0D-30BC-E3C9-EF2F5E29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8065A-263B-66F8-0B0B-0AE0743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7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20337-9118-5582-A5FB-27B0618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CD90-C274-5BEC-2388-76820A04B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2EC6-F9E4-27CF-AD6E-4B63D52C9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C6CF4-F6D8-4591-92D8-3F32B530FCE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B09B6-FE21-1A09-8568-FF6EC8234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808D-99B1-52C3-8AE7-C7AB852C9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12A0A-2A1D-4D73-92A3-D37799DE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4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ponential_smooth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Exponential decay </a:t>
            </a:r>
            <a:endParaRPr lang="en-US" b="1" dirty="0"/>
          </a:p>
          <a:p>
            <a:r>
              <a:rPr lang="en-US" dirty="0"/>
              <a:t>Moving window updates the analytic as new values received  </a:t>
            </a:r>
          </a:p>
          <a:p>
            <a:r>
              <a:rPr lang="en-US" dirty="0"/>
              <a:t>Is there an alternative to moving windows?  </a:t>
            </a:r>
          </a:p>
          <a:p>
            <a:r>
              <a:rPr lang="en-US" dirty="0"/>
              <a:t>Yes, </a:t>
            </a:r>
            <a:r>
              <a:rPr lang="en-US" b="1" dirty="0"/>
              <a:t>exponential decay </a:t>
            </a:r>
            <a:r>
              <a:rPr lang="en-US" dirty="0"/>
              <a:t>methods </a:t>
            </a:r>
          </a:p>
          <a:p>
            <a:pPr lvl="1"/>
            <a:r>
              <a:rPr lang="en-US" dirty="0"/>
              <a:t>Past values are exponentially down-weighted in time </a:t>
            </a:r>
          </a:p>
          <a:p>
            <a:pPr lvl="1"/>
            <a:r>
              <a:rPr lang="en-US" dirty="0"/>
              <a:t>Estimates of a statistic are updated with new observations</a:t>
            </a:r>
          </a:p>
          <a:p>
            <a:pPr lvl="1"/>
            <a:r>
              <a:rPr lang="en-US" dirty="0"/>
              <a:t>Computationally efficient  </a:t>
            </a:r>
          </a:p>
          <a:p>
            <a:pPr lvl="1"/>
            <a:r>
              <a:rPr lang="en-US" dirty="0"/>
              <a:t>Memory efficient: </a:t>
            </a:r>
            <a:r>
              <a:rPr lang="en-US" b="1" dirty="0"/>
              <a:t>do not need to store past observations!</a:t>
            </a:r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8186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55363"/>
            <a:ext cx="10515600" cy="52642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Family of exponential smoothing algorithms</a:t>
            </a:r>
            <a:endParaRPr lang="en-US" b="1" dirty="0"/>
          </a:p>
          <a:p>
            <a:r>
              <a:rPr lang="en-US" dirty="0"/>
              <a:t>Family of algorithms known as the </a:t>
            </a:r>
            <a:r>
              <a:rPr lang="en-US" b="1" dirty="0">
                <a:hlinkClick r:id="rId2"/>
              </a:rPr>
              <a:t>Holt-Winters</a:t>
            </a:r>
            <a:r>
              <a:rPr lang="en-US" dirty="0"/>
              <a:t> methods</a:t>
            </a:r>
          </a:p>
          <a:p>
            <a:r>
              <a:rPr lang="en-US" b="1" dirty="0"/>
              <a:t>First order</a:t>
            </a:r>
            <a:r>
              <a:rPr lang="en-US" dirty="0"/>
              <a:t> exponential smoother  </a:t>
            </a:r>
          </a:p>
          <a:p>
            <a:pPr lvl="1"/>
            <a:r>
              <a:rPr lang="en-US" dirty="0"/>
              <a:t>Smooths random (white) noise </a:t>
            </a:r>
          </a:p>
          <a:p>
            <a:pPr lvl="1"/>
            <a:r>
              <a:rPr lang="en-US" dirty="0"/>
              <a:t>Acts as a low-pass filter</a:t>
            </a:r>
          </a:p>
          <a:p>
            <a:r>
              <a:rPr lang="en-US" b="1" dirty="0"/>
              <a:t>Second order </a:t>
            </a:r>
            <a:r>
              <a:rPr lang="en-US" dirty="0"/>
              <a:t>model </a:t>
            </a:r>
          </a:p>
          <a:p>
            <a:pPr lvl="1"/>
            <a:r>
              <a:rPr lang="en-US" dirty="0"/>
              <a:t>Known as </a:t>
            </a:r>
            <a:r>
              <a:rPr lang="en-US" b="1" dirty="0"/>
              <a:t>double exponential smoothing</a:t>
            </a:r>
          </a:p>
          <a:p>
            <a:pPr lvl="1"/>
            <a:r>
              <a:rPr lang="en-US" dirty="0"/>
              <a:t>Includes a </a:t>
            </a:r>
            <a:r>
              <a:rPr lang="en-US" b="1" dirty="0"/>
              <a:t>trend term </a:t>
            </a:r>
          </a:p>
          <a:p>
            <a:r>
              <a:rPr lang="en-US" b="1" dirty="0"/>
              <a:t>Third order </a:t>
            </a:r>
            <a:r>
              <a:rPr lang="en-US" dirty="0"/>
              <a:t>model</a:t>
            </a:r>
          </a:p>
          <a:p>
            <a:pPr lvl="1"/>
            <a:r>
              <a:rPr lang="en-US" dirty="0"/>
              <a:t>Known as </a:t>
            </a:r>
            <a:r>
              <a:rPr lang="en-US" b="1" dirty="0"/>
              <a:t>triple exponential smoothing</a:t>
            </a:r>
          </a:p>
          <a:p>
            <a:pPr lvl="1"/>
            <a:r>
              <a:rPr lang="en-US" dirty="0"/>
              <a:t>Accounts for </a:t>
            </a:r>
            <a:r>
              <a:rPr lang="en-US" b="1" dirty="0"/>
              <a:t>seasonal (periodic) component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168735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Formulation of first order exponential smoother  </a:t>
                </a:r>
              </a:p>
              <a:p>
                <a:r>
                  <a:rPr lang="en-US" dirty="0"/>
                  <a:t>Start with the </a:t>
                </a:r>
                <a:r>
                  <a:rPr lang="en-US" b="1" dirty="0"/>
                  <a:t>initial conditions </a:t>
                </a:r>
                <a:r>
                  <a:rPr lang="en-US" dirty="0"/>
                  <a:t>– initial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initial smoothed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Formulate the update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with new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Applying some elementary calculus we can formulate the above in terms of decay constant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for a sampling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  <a:blipFill>
                <a:blip r:embed="rId2"/>
                <a:stretch>
                  <a:fillRect l="-1217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367443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Effect of decay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</a:t>
                </a:r>
                <a:r>
                  <a:rPr lang="en-US" b="1" dirty="0"/>
                  <a:t>decay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Choice of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determines the bandwidth:</a:t>
                </a:r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shorter memory, higher bandwidth </a:t>
                </a:r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⇒</m:t>
                    </m:r>
                  </m:oMath>
                </a14:m>
                <a:r>
                  <a:rPr lang="en-US" dirty="0"/>
                  <a:t> longer memory, lower bandwidth</a:t>
                </a:r>
              </a:p>
              <a:p>
                <a:r>
                  <a:rPr lang="en-US" dirty="0"/>
                  <a:t>Bandwidth and sampling  </a:t>
                </a:r>
              </a:p>
              <a:p>
                <a:pPr lvl="1"/>
                <a:r>
                  <a:rPr lang="en-US" dirty="0"/>
                  <a:t>High bandwidth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high sampling rate, less compression</a:t>
                </a:r>
              </a:p>
              <a:p>
                <a:pPr lvl="1"/>
                <a:r>
                  <a:rPr lang="en-US" dirty="0"/>
                  <a:t>Low bandwidth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low sampling rate, higher compression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  <a:blipFill>
                <a:blip r:embed="rId2"/>
                <a:stretch>
                  <a:fillRect l="-1217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38075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Effect of decay constant  </a:t>
                </a:r>
              </a:p>
              <a:p>
                <a:r>
                  <a:rPr lang="en-US" dirty="0"/>
                  <a:t>Consider the </a:t>
                </a:r>
                <a:r>
                  <a:rPr lang="en-US" b="1" dirty="0"/>
                  <a:t>decay time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for a sampling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1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Choice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determines the bandwidth:</a:t>
                </a:r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longer memory, lower bandwidth</a:t>
                </a:r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shorter memory, higher bandwidth </a:t>
                </a:r>
              </a:p>
              <a:p>
                <a:r>
                  <a:rPr lang="en-US" dirty="0"/>
                  <a:t>Bandwidth and sampling  </a:t>
                </a:r>
              </a:p>
              <a:p>
                <a:pPr lvl="1"/>
                <a:r>
                  <a:rPr lang="en-US" dirty="0"/>
                  <a:t>High bandwidth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high sampling rate, less compression</a:t>
                </a:r>
              </a:p>
              <a:p>
                <a:pPr lvl="1"/>
                <a:r>
                  <a:rPr lang="en-US" dirty="0"/>
                  <a:t>Low bandwidth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low sampling rate, higher compression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  <a:blipFill>
                <a:blip r:embed="rId2"/>
                <a:stretch>
                  <a:fillRect l="-1217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1238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Second order exponential smoothing</a:t>
                </a:r>
              </a:p>
              <a:p>
                <a:r>
                  <a:rPr lang="en-US" dirty="0"/>
                  <a:t>Second order exponential smoothing accounts for trend  </a:t>
                </a:r>
              </a:p>
              <a:p>
                <a:r>
                  <a:rPr lang="en-US" dirty="0"/>
                  <a:t>Start with initial conditions for smoothed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smoothed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update at each time step, with smooth coefficient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slope smoothing coefficient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≤1, 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Third order exponential smoothing adds seasonal term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00381"/>
                <a:ext cx="10515600" cy="5558724"/>
              </a:xfrm>
              <a:blipFill>
                <a:blip r:embed="rId2"/>
                <a:stretch>
                  <a:fillRect l="-1217" t="-1866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212016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FAF4-6510-7238-10DC-FC837DFD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455A-C004-1E0A-227C-56230339D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Exponential decay as an anomaly detector </a:t>
            </a:r>
          </a:p>
          <a:p>
            <a:r>
              <a:rPr lang="en-US" dirty="0"/>
              <a:t>Algorithm can be viewed as a forecast between of the next observation</a:t>
            </a:r>
          </a:p>
          <a:p>
            <a:r>
              <a:rPr lang="en-US" dirty="0"/>
              <a:t>When next observation arrives, compute difference  </a:t>
            </a:r>
          </a:p>
          <a:p>
            <a:r>
              <a:rPr lang="en-US" dirty="0"/>
              <a:t>High difference between forecast and actual can indicate an unusual condition   </a:t>
            </a:r>
          </a:p>
          <a:p>
            <a:pPr lvl="1"/>
            <a:r>
              <a:rPr lang="en-US" dirty="0"/>
              <a:t>High rates of change</a:t>
            </a:r>
          </a:p>
          <a:p>
            <a:pPr lvl="1"/>
            <a:r>
              <a:rPr lang="en-US" dirty="0"/>
              <a:t>Spikes or transient values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5C3F1D-D671-8837-06F5-08F42FAB862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Exponential Decay Analytics</a:t>
            </a:r>
          </a:p>
        </p:txBody>
      </p:sp>
    </p:spTree>
    <p:extLst>
      <p:ext uri="{BB962C8B-B14F-4D97-AF65-F5344CB8AC3E}">
        <p14:creationId xmlns:p14="http://schemas.microsoft.com/office/powerpoint/2010/main" val="240391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Elston</dc:creator>
  <cp:lastModifiedBy>Stephen Elston</cp:lastModifiedBy>
  <cp:revision>1</cp:revision>
  <dcterms:created xsi:type="dcterms:W3CDTF">2026-05-04T01:20:06Z</dcterms:created>
  <dcterms:modified xsi:type="dcterms:W3CDTF">2026-05-04T01:20:46Z</dcterms:modified>
</cp:coreProperties>
</file>