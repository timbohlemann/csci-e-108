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25"/>
  </p:notesMasterIdLst>
  <p:sldIdLst>
    <p:sldId id="275" r:id="rId3"/>
    <p:sldId id="764" r:id="rId4"/>
    <p:sldId id="763" r:id="rId5"/>
    <p:sldId id="765" r:id="rId6"/>
    <p:sldId id="739" r:id="rId7"/>
    <p:sldId id="735" r:id="rId8"/>
    <p:sldId id="737" r:id="rId9"/>
    <p:sldId id="743" r:id="rId10"/>
    <p:sldId id="744" r:id="rId11"/>
    <p:sldId id="745" r:id="rId12"/>
    <p:sldId id="740" r:id="rId13"/>
    <p:sldId id="738" r:id="rId14"/>
    <p:sldId id="746" r:id="rId15"/>
    <p:sldId id="748" r:id="rId16"/>
    <p:sldId id="747" r:id="rId17"/>
    <p:sldId id="749" r:id="rId18"/>
    <p:sldId id="741" r:id="rId19"/>
    <p:sldId id="742" r:id="rId20"/>
    <p:sldId id="732" r:id="rId21"/>
    <p:sldId id="696" r:id="rId22"/>
    <p:sldId id="658" r:id="rId23"/>
    <p:sldId id="64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9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0DB7-3564-4028-881B-4A225B453265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3DAB-225E-4C94-B4AB-0DAFDAA76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11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FFBF-FD2C-4E4A-3347-CDBC14BB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53E33-27E6-BF48-4A6F-84D851E7E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7B6E7-0F04-54B3-97B3-486773ECE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C7BF2-F3BF-FB67-CF56-051651590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0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30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44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66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88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5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75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7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49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85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28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6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14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71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68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32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79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912-CAA7-4FB7-965B-638681F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3D0E1-4B2E-4D02-B716-46C6957C2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131D9-15AB-48BB-8030-6175A54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ABB9-0CC8-4432-925B-39F4593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BD0F9-4858-496F-BEF5-69980908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66E9-C3C0-48BB-817F-E7E1E3366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DF04-827A-4ED9-A7C9-CED392FA0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5C4C6-E792-4319-9E04-4F71ED95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5B080-AB8A-421E-8F0D-69D84EC8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587AB-3A54-4CD4-89FA-0FBC0F96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1D9C-3FFC-41D3-A198-B22DC5C5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9C15-240F-4D3C-AD19-127FB016E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87E9-2100-4242-B4CB-E46FEBE6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7874-A9A3-4444-AEA5-B0C2FA92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42EC-871E-4097-966D-9E0CA0E2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C38C-5C11-4496-8021-D48C6F3B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F58E-F443-4946-9A4B-A464F3D48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CA899-E094-48B9-9B76-B701C9261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14799-DB41-4C22-9EA1-F073A4C3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3724-A031-46F9-80C9-7DDBA99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850D-AB31-4191-AF92-22470AD9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B26F-CE03-4F26-ACA2-1ED1EA5C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CA1B-F800-4A2F-AAE3-CEE1ABBB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DE177-5235-4882-AA01-3ECE06D5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47571-62F7-4D47-8D88-F2ACF4DDF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1A0C0-4AE7-4352-B7C3-413D81029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137CF-787D-421F-9BCF-BE694F2C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DC48C-602E-4939-8349-51D56B3D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9656-0087-4E23-BC8F-950C952D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C3D7-8634-48B6-8FB7-06708103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D6755-34D7-4A06-AB10-27C7E465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4AC4E-DD1A-4FA0-B432-BC904BF8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3E03D-D14C-48DF-AABC-EDD1A1D7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FB963-D414-412C-B10C-6C29FE33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C5DE7-18E4-40B9-B98D-04A22F32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C35D5-3E63-4B51-9F0E-920E7363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9D0A-B97D-4DDD-BFD9-5A01EDAD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C32E-EC8D-4F8B-B815-339B90CA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A288C-1BE4-497F-98B7-2E5077151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72D46-EAD4-415C-A624-2DB4438E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6A0B4-5110-4D5C-8247-255820C6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EED2-7596-4C63-A4DC-15263A37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6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5D6E-010D-46DE-B7B8-26F95CD65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B9DBE-02E5-412E-B5E1-0EF016EDD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AC693-2794-4EE2-8CE4-2CF839816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6179B-BD06-434D-88BE-2FCE9975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89BE-7FA3-47F1-8A2E-0BC03551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843D9-897E-4FA7-A95A-7AFDDBA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1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696E-352C-49B2-9E02-5B7A7152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A0937-9F6F-4CE8-BAB0-DA6EA1A3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F0085-FB03-4A5C-9D66-580A92FD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90D2-4DBA-44DB-B786-02402406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0AECD-947A-4D5C-BC32-A0EFDBC4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9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A070C-9203-44D4-9389-42F341A01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0DB5-DBBA-4022-8560-ADA0E832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3C7A-C164-49A8-8A99-41A63CEF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F653-49BF-4261-B3D3-C2246834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5250-D0E5-442A-98E8-64DB2FF8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8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598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936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94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D92556-C7BC-4DE3-9278-20DEB566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B4E-9726-48B7-95FC-86DC5068328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F3D86-F32C-46DE-BDA1-539591F0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8CCB-6CF9-4770-B736-7F633976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99AF1-9C60-444A-B0F3-23DBD8E42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EE92-87CB-4FD5-B91D-C59EC8D5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BF0E1-A364-40B5-BC0C-3BE9D9A1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0C0-F0F3-4F98-81D3-906780F89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3463-61C8-4819-BC9A-C94FD847F06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0BF1B-55AF-4313-A077-2E67AE818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3C8F-10C2-41C1-87DB-2A43F3AFC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320B-7F3C-4D6F-8D55-3D71907A9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4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5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library.wiley.com/doi/abs/10.1002/9780470316801.ch2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researchgate.net/publication/344429258_An_overview_of_partitioning_algorithms_in_clustering_techniques" TargetMode="External"/><Relationship Id="rId5" Type="http://schemas.openxmlformats.org/officeDocument/2006/relationships/hyperlink" Target="https://www.researchgate.net/publication/328303362_Faster_k-Medoids_Clustering_Improving_the_PAM_CLARA_and_CLARANS_Algorithms" TargetMode="External"/><Relationship Id="rId4" Type="http://schemas.openxmlformats.org/officeDocument/2006/relationships/hyperlink" Target="http://www.cs.ecu.edu/dingq/CSCI6905/readings/CLARANS.pdf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-extra.readthedocs.io/en/stable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yclustering.github.io/docs/0.10.1/html/index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619" y="968479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Introduction to Clustering Models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91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2020,2021, 2022, 2023, 2024, 2025,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Algorithms for Non-Euclidean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Euclidean spaces are optimal only for Normally distributed variables    </a:t>
            </a:r>
          </a:p>
          <a:p>
            <a:r>
              <a:rPr lang="en-US" dirty="0">
                <a:latin typeface="+mn-lt"/>
              </a:rPr>
              <a:t>Common examples of variables in non-Euclidean spaces  </a:t>
            </a:r>
          </a:p>
          <a:p>
            <a:pPr lvl="1"/>
            <a:r>
              <a:rPr lang="en-US" dirty="0">
                <a:latin typeface="+mn-lt"/>
              </a:rPr>
              <a:t>Categorical variables including NLP problems </a:t>
            </a:r>
          </a:p>
          <a:p>
            <a:pPr lvl="1"/>
            <a:r>
              <a:rPr lang="en-US" dirty="0">
                <a:latin typeface="+mn-lt"/>
              </a:rPr>
              <a:t>Binary variables </a:t>
            </a:r>
          </a:p>
          <a:p>
            <a:pPr lvl="1"/>
            <a:r>
              <a:rPr lang="en-US" dirty="0">
                <a:latin typeface="+mn-lt"/>
              </a:rPr>
              <a:t>Ordinal variables </a:t>
            </a:r>
          </a:p>
          <a:p>
            <a:r>
              <a:rPr lang="en-US" dirty="0">
                <a:latin typeface="+mn-lt"/>
              </a:rPr>
              <a:t>Algorithms for non-Euclidian spaces </a:t>
            </a:r>
          </a:p>
          <a:p>
            <a:pPr lvl="1"/>
            <a:r>
              <a:rPr lang="en-US" dirty="0">
                <a:latin typeface="+mn-lt"/>
              </a:rPr>
              <a:t>Tree-graph-based Agglomerative clustering </a:t>
            </a:r>
          </a:p>
          <a:p>
            <a:pPr lvl="1"/>
            <a:r>
              <a:rPr lang="en-US" dirty="0">
                <a:latin typeface="+mn-lt"/>
              </a:rPr>
              <a:t>Graph-based affinity clustering </a:t>
            </a:r>
          </a:p>
          <a:p>
            <a:pPr lvl="1"/>
            <a:r>
              <a:rPr lang="en-US" dirty="0">
                <a:latin typeface="+mn-lt"/>
              </a:rPr>
              <a:t>NN graph-based density algorithms  </a:t>
            </a:r>
          </a:p>
          <a:p>
            <a:pPr lvl="1"/>
            <a:r>
              <a:rPr lang="en-US" dirty="0">
                <a:latin typeface="+mn-lt"/>
              </a:rPr>
              <a:t>NN graph-based spectral clustering </a:t>
            </a:r>
          </a:p>
        </p:txBody>
      </p:sp>
    </p:spTree>
    <p:extLst>
      <p:ext uri="{BB962C8B-B14F-4D97-AF65-F5344CB8AC3E}">
        <p14:creationId xmlns:p14="http://schemas.microsoft.com/office/powerpoint/2010/main" val="372889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501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K-</a:t>
            </a:r>
            <a:r>
              <a:rPr lang="en-US" sz="4400" dirty="0" err="1"/>
              <a:t>Mediods</a:t>
            </a:r>
            <a:r>
              <a:rPr lang="en-US" sz="4400" dirty="0"/>
              <a:t> and CLARA</a:t>
            </a:r>
          </a:p>
        </p:txBody>
      </p:sp>
    </p:spTree>
    <p:extLst>
      <p:ext uri="{BB962C8B-B14F-4D97-AF65-F5344CB8AC3E}">
        <p14:creationId xmlns:p14="http://schemas.microsoft.com/office/powerpoint/2010/main" val="262727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D3DE-454D-4463-01EE-12380639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14A7-DE5B-5E24-B75E-9D28C5E5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8B676-0D04-32CE-DA05-17E30AF41CE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Want a more efficient algorithm for non-Euclidean spaces   </a:t>
                </a:r>
              </a:p>
              <a:p>
                <a:r>
                  <a:rPr lang="en-US" dirty="0">
                    <a:latin typeface="+mn-lt"/>
                  </a:rPr>
                  <a:t>Agglomerative clustering has computational efficiency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 and memory of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Algorithm is sequential </a:t>
                </a:r>
              </a:p>
              <a:p>
                <a:pPr lvl="1"/>
                <a:r>
                  <a:rPr lang="en-US" dirty="0">
                    <a:latin typeface="+mn-lt"/>
                  </a:rPr>
                  <a:t>Agglomerative clustering is not suitable for large scale data mining</a:t>
                </a:r>
              </a:p>
              <a:p>
                <a:r>
                  <a:rPr lang="en-US" dirty="0">
                    <a:latin typeface="+mn-lt"/>
                  </a:rPr>
                  <a:t>K-medoid uses observations or medoids as cluster centers</a:t>
                </a:r>
              </a:p>
              <a:p>
                <a:pPr lvl="1"/>
                <a:r>
                  <a:rPr lang="en-US" dirty="0">
                    <a:latin typeface="+mn-lt"/>
                  </a:rPr>
                  <a:t>No sum of squares</a:t>
                </a:r>
              </a:p>
              <a:p>
                <a:pPr lvl="1"/>
                <a:r>
                  <a:rPr lang="en-US" dirty="0">
                    <a:latin typeface="+mn-lt"/>
                  </a:rPr>
                  <a:t>Works for any distance metric </a:t>
                </a:r>
              </a:p>
              <a:p>
                <a:r>
                  <a:rPr lang="en-US" dirty="0">
                    <a:latin typeface="+mn-lt"/>
                  </a:rPr>
                  <a:t>K-medoids produces </a:t>
                </a:r>
                <a:r>
                  <a:rPr lang="en-US" b="1" dirty="0">
                    <a:latin typeface="+mn-lt"/>
                  </a:rPr>
                  <a:t>convex clusters</a:t>
                </a:r>
              </a:p>
              <a:p>
                <a:r>
                  <a:rPr lang="en-US" dirty="0">
                    <a:latin typeface="+mn-lt"/>
                  </a:rPr>
                  <a:t>K-</a:t>
                </a:r>
                <a:r>
                  <a:rPr lang="en-US" dirty="0" err="1">
                    <a:latin typeface="+mn-lt"/>
                  </a:rPr>
                  <a:t>mediods</a:t>
                </a:r>
                <a:r>
                  <a:rPr lang="en-US" dirty="0">
                    <a:latin typeface="+mn-lt"/>
                  </a:rPr>
                  <a:t> produces </a:t>
                </a:r>
                <a:r>
                  <a:rPr lang="en-US" b="1" dirty="0">
                    <a:latin typeface="+mn-lt"/>
                  </a:rPr>
                  <a:t>flat cluster models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8B676-0D04-32CE-DA05-17E30AF41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88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Want a more efficient algorithm for non-Euclidean spaces   </a:t>
                </a:r>
              </a:p>
              <a:p>
                <a:r>
                  <a:rPr lang="en-US" dirty="0">
                    <a:latin typeface="+mn-lt"/>
                  </a:rPr>
                  <a:t>Each cluster has a </a:t>
                </a:r>
                <a:r>
                  <a:rPr lang="en-US" b="1" dirty="0">
                    <a:latin typeface="+mn-lt"/>
                  </a:rPr>
                  <a:t>medoid</a:t>
                </a:r>
                <a:r>
                  <a:rPr lang="en-US" dirty="0">
                    <a:latin typeface="+mn-lt"/>
                  </a:rPr>
                  <a:t>, the observation nearest the ‘center’</a:t>
                </a:r>
              </a:p>
              <a:p>
                <a:r>
                  <a:rPr lang="en-US" dirty="0">
                    <a:latin typeface="+mn-lt"/>
                  </a:rPr>
                  <a:t>Distance for observation,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to medoid,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can be measured in any metric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 </a:t>
                </a:r>
              </a:p>
              <a:p>
                <a:r>
                  <a:rPr lang="en-US" dirty="0">
                    <a:latin typeface="+mn-lt"/>
                  </a:rPr>
                  <a:t>For a set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medoids,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the </a:t>
                </a:r>
                <a:r>
                  <a:rPr lang="en-US" b="1" dirty="0">
                    <a:latin typeface="+mn-lt"/>
                  </a:rPr>
                  <a:t>total deviation (TD)</a:t>
                </a:r>
                <a:r>
                  <a:rPr lang="en-US" dirty="0">
                    <a:latin typeface="+mn-lt"/>
                  </a:rPr>
                  <a:t> measures the compactness of the clusters: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Goal is to assign each observation to a cluster so that TD is minimized for the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clusters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Many variations of the k-medoids have been developed  </a:t>
            </a:r>
          </a:p>
          <a:p>
            <a:r>
              <a:rPr lang="en-US" b="1" dirty="0">
                <a:latin typeface="+mn-lt"/>
              </a:rPr>
              <a:t>Partitioning Around </a:t>
            </a:r>
            <a:r>
              <a:rPr lang="en-US" b="1" dirty="0" err="1">
                <a:latin typeface="+mn-lt"/>
              </a:rPr>
              <a:t>Mediods</a:t>
            </a:r>
            <a:r>
              <a:rPr lang="en-US" b="1" dirty="0">
                <a:latin typeface="+mn-lt"/>
              </a:rPr>
              <a:t> (PAM)</a:t>
            </a:r>
            <a:r>
              <a:rPr lang="en-US" dirty="0">
                <a:latin typeface="+mn-lt"/>
              </a:rPr>
              <a:t> algorithm, was an early k-medoid algorithm</a:t>
            </a:r>
          </a:p>
          <a:p>
            <a:r>
              <a:rPr lang="en-US" dirty="0">
                <a:latin typeface="+mn-lt"/>
              </a:rPr>
              <a:t>PAM algorithm has two steps:     </a:t>
            </a:r>
          </a:p>
          <a:p>
            <a:pPr lvl="1"/>
            <a:r>
              <a:rPr lang="en-US" b="1" dirty="0">
                <a:latin typeface="+mn-lt"/>
              </a:rPr>
              <a:t>Build step </a:t>
            </a:r>
            <a:r>
              <a:rPr lang="en-US" dirty="0">
                <a:latin typeface="+mn-lt"/>
              </a:rPr>
              <a:t>finds initial cluster assignments   </a:t>
            </a:r>
          </a:p>
          <a:p>
            <a:pPr lvl="1"/>
            <a:r>
              <a:rPr lang="en-US" b="1" dirty="0">
                <a:latin typeface="+mn-lt"/>
              </a:rPr>
              <a:t>Swap step </a:t>
            </a:r>
            <a:r>
              <a:rPr lang="en-US" dirty="0">
                <a:latin typeface="+mn-lt"/>
              </a:rPr>
              <a:t>improves cluster assignments    </a:t>
            </a:r>
          </a:p>
        </p:txBody>
      </p:sp>
    </p:spTree>
    <p:extLst>
      <p:ext uri="{BB962C8B-B14F-4D97-AF65-F5344CB8AC3E}">
        <p14:creationId xmlns:p14="http://schemas.microsoft.com/office/powerpoint/2010/main" val="212912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n-lt"/>
              </a:rPr>
              <a:t>Partitioning Around </a:t>
            </a:r>
            <a:r>
              <a:rPr lang="en-US" b="1" dirty="0" err="1">
                <a:latin typeface="+mn-lt"/>
              </a:rPr>
              <a:t>Mediods</a:t>
            </a:r>
            <a:r>
              <a:rPr lang="en-US" b="1" dirty="0">
                <a:latin typeface="+mn-lt"/>
              </a:rPr>
              <a:t> (PAM)</a:t>
            </a:r>
            <a:r>
              <a:rPr lang="en-US" dirty="0">
                <a:latin typeface="+mn-lt"/>
              </a:rPr>
              <a:t> algorithm was early k-medoid algorithm</a:t>
            </a:r>
          </a:p>
          <a:p>
            <a:r>
              <a:rPr lang="en-US" b="1" dirty="0">
                <a:latin typeface="+mn-lt"/>
              </a:rPr>
              <a:t>Build step </a:t>
            </a:r>
            <a:r>
              <a:rPr lang="en-US" dirty="0">
                <a:latin typeface="+mn-lt"/>
              </a:rPr>
              <a:t>finds initial cluster assignments   </a:t>
            </a:r>
          </a:p>
          <a:p>
            <a:pPr marL="0" indent="0">
              <a:buNone/>
            </a:pPr>
            <a:endParaRPr lang="en-US" sz="800" dirty="0">
              <a:latin typeface="+mn-lt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Find first medoid by greedy algorithm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Find a medoid observation with minimum total deviation (TD)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Assign as m1 </a:t>
            </a:r>
          </a:p>
          <a:p>
            <a:pPr marL="0" indent="0">
              <a:spcBef>
                <a:spcPts val="20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Sequentially find remaining medoids by greedy partitioning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j in range(2,k):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find observation that partitions the observations with minimum TD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Assign as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mj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sz="800" dirty="0">
              <a:latin typeface="+mn-lt"/>
              <a:cs typeface="Courier New" panose="02070309020205020404" pitchFamily="49" charset="0"/>
            </a:endParaRPr>
          </a:p>
          <a:p>
            <a:r>
              <a:rPr lang="en-US" dirty="0">
                <a:latin typeface="+mn-lt"/>
                <a:cs typeface="Courier New" panose="02070309020205020404" pitchFamily="49" charset="0"/>
              </a:rPr>
              <a:t>Build is a greedy algorithm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Once an observation is assigned as a medoid the assignment is fixed  </a:t>
            </a:r>
          </a:p>
          <a:p>
            <a:r>
              <a:rPr lang="en-US" dirty="0">
                <a:latin typeface="+mn-lt"/>
              </a:rPr>
              <a:t>Build algorithm empirically superior to random starts for k-medoids</a:t>
            </a:r>
          </a:p>
        </p:txBody>
      </p:sp>
    </p:spTree>
    <p:extLst>
      <p:ext uri="{BB962C8B-B14F-4D97-AF65-F5344CB8AC3E}">
        <p14:creationId xmlns:p14="http://schemas.microsoft.com/office/powerpoint/2010/main" val="268039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There are </a:t>
                </a:r>
                <a:r>
                  <a:rPr lang="en-US" b="1" dirty="0">
                    <a:latin typeface="+mn-lt"/>
                  </a:rPr>
                  <a:t>4 cases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𝑻𝑫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when evaluating a medoid swap       </a:t>
                </a: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The swap step is complicated since changing medoids results in reassignment of at least some observations </a:t>
                </a: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Only keep swap if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reduced</a:t>
                </a: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Use the following notation: 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𝑻𝑫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change in the </a:t>
                </a:r>
                <a:r>
                  <a:rPr lang="en-US" i="1" dirty="0">
                    <a:latin typeface="+mn-lt"/>
                    <a:cs typeface="Courier New" panose="02070309020205020404" pitchFamily="49" charset="0"/>
                  </a:rPr>
                  <a:t>TD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for a change in assignment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an observation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another observation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the medoid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are currently assigned to  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the next nearest </a:t>
                </a:r>
                <a:r>
                  <a:rPr lang="en-US" sz="2000" dirty="0">
                    <a:latin typeface="+mn-lt"/>
                    <a:cs typeface="Courier New" panose="02070309020205020404" pitchFamily="49" charset="0"/>
                  </a:rPr>
                  <a:t>medoid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 swap candidate for medoid,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.,.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distance measure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5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There are </a:t>
                </a:r>
                <a:r>
                  <a:rPr lang="en-US" b="1" dirty="0">
                    <a:latin typeface="+mn-lt"/>
                  </a:rPr>
                  <a:t>4 cases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𝑻𝑫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when evaluating a medoid swap       </a:t>
                </a: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2 cases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swapped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Case 1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swapped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&lt;0</m:t>
                    </m:r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, the swap decreases total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 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Case 2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swapped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closer to</a:t>
                </a:r>
                <a:r>
                  <a:rPr lang="en-US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can be positive or negative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87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There are </a:t>
                </a:r>
                <a:r>
                  <a:rPr lang="en-US" b="1" dirty="0">
                    <a:latin typeface="+mn-lt"/>
                  </a:rPr>
                  <a:t>4 cases for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𝑻𝑫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when evaluating a medoid swap       </a:t>
                </a: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2 cases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swapped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Case 3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swapped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closer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remains 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r>
                  <a:rPr lang="en-US" b="1" dirty="0">
                    <a:latin typeface="+mn-lt"/>
                    <a:cs typeface="Courier New" panose="02070309020205020404" pitchFamily="49" charset="0"/>
                  </a:rPr>
                  <a:t>Case 4</a:t>
                </a: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swapped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is closer to</a:t>
                </a:r>
                <a:r>
                  <a:rPr lang="en-US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&lt;0</m:t>
                    </m:r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reassigned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17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+mn-lt"/>
                  </a:rPr>
                  <a:t>Swap step </a:t>
                </a:r>
                <a:r>
                  <a:rPr lang="en-US" dirty="0">
                    <a:latin typeface="+mn-lt"/>
                  </a:rPr>
                  <a:t>attempts to find a better set of medoids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set threshold,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max_its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large_number</a:t>
                </a:r>
                <a:endParaRPr lang="en-US" sz="2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its = 1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TD =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compute_TD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(X,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})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its &lt;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max_its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or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 threshold: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sample xi not in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 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sample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mj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in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swap xi,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mj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# candidate swap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compute_delta_TD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(xi,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mj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X,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})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if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 0: # The swap step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mj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xi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update_cluster_assignments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(X,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})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TD = TD +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endParaRPr lang="en-US" sz="2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its+=1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cluster_assignments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TD, {m1,m2,…,</a:t>
                </a:r>
                <a:r>
                  <a:rPr lang="en-US" sz="2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mk</a:t>
                </a:r>
                <a:r>
                  <a:rPr lang="en-US" sz="2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 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endParaRPr lang="en-US" sz="1200" dirty="0">
                  <a:latin typeface="+mn-lt"/>
                  <a:cs typeface="Courier New" panose="02070309020205020404" pitchFamily="49" charset="0"/>
                </a:endParaRP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Swap is a greedy algorithm</a:t>
                </a:r>
              </a:p>
              <a:p>
                <a:pPr lvl="1"/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Once an observation is assigned as a medoid the assignment is fixed  </a:t>
                </a:r>
              </a:p>
              <a:p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Large improvement in computational efficiency by caching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𝑇𝐷𝑠</m:t>
                    </m:r>
                  </m:oMath>
                </a14:m>
                <a:endParaRPr lang="en-US" dirty="0">
                  <a:latin typeface="+mn-lt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952" t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19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PAM is not a scalable algorithm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	</a:t>
                </a:r>
                <a:r>
                  <a:rPr lang="en-US" sz="2400" dirty="0">
                    <a:latin typeface="+mn-lt"/>
                  </a:rPr>
                  <a:t>Where:  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400" dirty="0">
                    <a:latin typeface="+mn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+mn-lt"/>
                  </a:rPr>
                  <a:t> number of iterations  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400" dirty="0">
                    <a:latin typeface="+mn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+mn-lt"/>
                  </a:rPr>
                  <a:t> number of clusters   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2400" dirty="0">
                    <a:latin typeface="+mn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+mn-lt"/>
                  </a:rPr>
                  <a:t> number of observations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How can we scale k-medoids method?   </a:t>
                </a:r>
              </a:p>
              <a:p>
                <a:pPr lvl="1"/>
                <a:r>
                  <a:rPr lang="en-US" dirty="0">
                    <a:latin typeface="+mn-lt"/>
                  </a:rPr>
                  <a:t>Find swaps using a subsample of the observations – CLARA algorithm   </a:t>
                </a:r>
              </a:p>
              <a:p>
                <a:pPr lvl="1"/>
                <a:r>
                  <a:rPr lang="en-US" dirty="0">
                    <a:latin typeface="+mn-lt"/>
                  </a:rPr>
                  <a:t>Randomly sample nearest neighbors on a graph of medoids – CLARANS algorithm       </a:t>
                </a: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9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CLARA algorithm     </a:t>
                </a:r>
              </a:p>
              <a:p>
                <a:r>
                  <a:rPr lang="en-US" dirty="0">
                    <a:latin typeface="+mn-lt"/>
                  </a:rPr>
                  <a:t>CLARA finds swap candidates using a random subsample of observations   </a:t>
                </a:r>
              </a:p>
              <a:p>
                <a:pPr lvl="1"/>
                <a:r>
                  <a:rPr lang="en-US" dirty="0">
                    <a:latin typeface="+mn-lt"/>
                  </a:rPr>
                  <a:t>Bernoulli sample with default size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 swap is computed on the subsample  </a:t>
                </a:r>
              </a:p>
              <a:p>
                <a:pPr lvl="1"/>
                <a:r>
                  <a:rPr lang="en-US" dirty="0">
                    <a:latin typeface="+mn-lt"/>
                  </a:rPr>
                  <a:t>Swap algorithm same as PAM</a:t>
                </a:r>
              </a:p>
              <a:p>
                <a:r>
                  <a:rPr lang="en-US" dirty="0">
                    <a:latin typeface="+mn-lt"/>
                  </a:rPr>
                  <a:t>Uncertainty of each swap step is greater than PAM  </a:t>
                </a:r>
              </a:p>
              <a:p>
                <a:pPr lvl="1"/>
                <a:r>
                  <a:rPr lang="en-US" dirty="0">
                    <a:latin typeface="+mn-lt"/>
                  </a:rPr>
                  <a:t>Stochastic estimate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lvl="1"/>
                <a:r>
                  <a:rPr lang="en-US" dirty="0">
                    <a:latin typeface="+mn-lt"/>
                  </a:rPr>
                  <a:t>Requires more, very fast, steps    </a:t>
                </a:r>
              </a:p>
              <a:p>
                <a:r>
                  <a:rPr lang="en-US" dirty="0">
                    <a:latin typeface="+mn-lt"/>
                  </a:rPr>
                  <a:t>Efficiency: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Scalable for small </a:t>
                </a:r>
                <a:r>
                  <a:rPr lang="en-US" i="1" dirty="0">
                    <a:latin typeface="+mn-lt"/>
                  </a:rPr>
                  <a:t>k</a:t>
                </a:r>
                <a:r>
                  <a:rPr lang="en-US" dirty="0">
                    <a:latin typeface="+mn-lt"/>
                  </a:rPr>
                  <a:t> and large </a:t>
                </a:r>
                <a:r>
                  <a:rPr lang="en-US" i="1" dirty="0">
                    <a:latin typeface="+mn-lt"/>
                  </a:rPr>
                  <a:t>n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40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CLARANS algorithm     </a:t>
                </a:r>
              </a:p>
              <a:p>
                <a:r>
                  <a:rPr lang="en-US" dirty="0">
                    <a:latin typeface="+mn-lt"/>
                  </a:rPr>
                  <a:t>CLARANS randomly samples from a nearest neighbor graph of medoid sets </a:t>
                </a:r>
              </a:p>
              <a:p>
                <a:r>
                  <a:rPr lang="en-US" dirty="0">
                    <a:latin typeface="+mn-lt"/>
                  </a:rPr>
                  <a:t>Each </a:t>
                </a:r>
                <a:r>
                  <a:rPr lang="en-US" b="1" dirty="0">
                    <a:latin typeface="+mn-lt"/>
                  </a:rPr>
                  <a:t>node is a specific set of medoids </a:t>
                </a:r>
                <a:r>
                  <a:rPr lang="en-US" dirty="0">
                    <a:latin typeface="+mn-lt"/>
                  </a:rPr>
                  <a:t>given the observations: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,..,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A near neighbor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</a:t>
                </a:r>
                <a:r>
                  <a:rPr lang="en-US" b="1" dirty="0">
                    <a:latin typeface="+mn-lt"/>
                  </a:rPr>
                  <a:t>differs by 1 medoid</a:t>
                </a:r>
                <a:r>
                  <a:rPr lang="en-US" dirty="0"/>
                  <a:t>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,,..,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Only one difference between neighbor sets: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𝐽𝑎𝑐𝑎𝑟𝑑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Using a limited number of nearest neighbors, </a:t>
                </a:r>
                <a:r>
                  <a:rPr lang="en-US" i="1" dirty="0" err="1">
                    <a:latin typeface="+mn-lt"/>
                  </a:rPr>
                  <a:t>numlocal</a:t>
                </a:r>
                <a:r>
                  <a:rPr lang="en-US" dirty="0">
                    <a:latin typeface="+mn-lt"/>
                  </a:rPr>
                  <a:t>, limits the complexity of the search.    </a:t>
                </a:r>
              </a:p>
              <a:p>
                <a:r>
                  <a:rPr lang="en-US" dirty="0">
                    <a:latin typeface="+mn-lt"/>
                  </a:rPr>
                  <a:t>Is a </a:t>
                </a:r>
                <a:r>
                  <a:rPr lang="en-US" b="1" dirty="0">
                    <a:latin typeface="+mn-lt"/>
                  </a:rPr>
                  <a:t>greedy search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1111" t="-2460" r="-1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35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</a:t>
                </a:r>
                <a:r>
                  <a:rPr lang="en-US" b="1" dirty="0">
                    <a:latin typeface="+mn-lt"/>
                  </a:rPr>
                  <a:t>CLARANS algorithm    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set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numlocal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maxneighbor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BigNumber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# Starting value of global TD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=1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numlocal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# random starting point on graph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random sample S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,,..,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compute_TD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(S) # Starting TD for this iteration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j = 1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while j &lt;=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maxneighbor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random sample neighbor SO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,,..,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compute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if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 0: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S = SO # Swap if improvement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Update_assignments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(S) ## Per PAM algorithm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TD = TD +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delta_TD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j = j + 1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if TD &lt;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: 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TD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final_S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S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+ 1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min_TD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final_S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cluster_assignments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200"/>
                  </a:spcBef>
                  <a:buNone/>
                </a:pP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896079"/>
                <a:ext cx="11525250" cy="5698998"/>
              </a:xfrm>
              <a:blipFill>
                <a:blip r:embed="rId3"/>
                <a:stretch>
                  <a:fillRect l="-582" t="-2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265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646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Compare CLARA and CLARANS algorithms</a:t>
            </a:r>
            <a:r>
              <a:rPr lang="en-US" b="1" dirty="0">
                <a:latin typeface="+mn-lt"/>
              </a:rPr>
              <a:t>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85E18ED8-6DA7-7064-6F09-F8C06C939E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2957" y="1460162"/>
              <a:ext cx="11712048" cy="3383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6349">
                      <a:extLst>
                        <a:ext uri="{9D8B030D-6E8A-4147-A177-3AD203B41FA5}">
                          <a16:colId xmlns:a16="http://schemas.microsoft.com/office/drawing/2014/main" val="220286723"/>
                        </a:ext>
                      </a:extLst>
                    </a:gridCol>
                    <a:gridCol w="4111995">
                      <a:extLst>
                        <a:ext uri="{9D8B030D-6E8A-4147-A177-3AD203B41FA5}">
                          <a16:colId xmlns:a16="http://schemas.microsoft.com/office/drawing/2014/main" val="1510201248"/>
                        </a:ext>
                      </a:extLst>
                    </a:gridCol>
                    <a:gridCol w="4403704">
                      <a:extLst>
                        <a:ext uri="{9D8B030D-6E8A-4147-A177-3AD203B41FA5}">
                          <a16:colId xmlns:a16="http://schemas.microsoft.com/office/drawing/2014/main" val="116769186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CLARA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CLARANS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1879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Greedy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25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Search 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Local search on small random sample of observations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Nearest neighbor search on random samples of global graph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39218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Computational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40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Harder to quantify, but likely worse than CLARA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77169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Robustness and identification of outliers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Small samples susceptible to outlier influence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Fairly robust to outliers. Identify with large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cs typeface="Courier New" panose="02070309020205020404" pitchFamily="49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8686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85E18ED8-6DA7-7064-6F09-F8C06C939E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5979415"/>
                  </p:ext>
                </p:extLst>
              </p:nvPr>
            </p:nvGraphicFramePr>
            <p:xfrm>
              <a:off x="292957" y="1460162"/>
              <a:ext cx="11712048" cy="3383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6349">
                      <a:extLst>
                        <a:ext uri="{9D8B030D-6E8A-4147-A177-3AD203B41FA5}">
                          <a16:colId xmlns:a16="http://schemas.microsoft.com/office/drawing/2014/main" val="220286723"/>
                        </a:ext>
                      </a:extLst>
                    </a:gridCol>
                    <a:gridCol w="4111995">
                      <a:extLst>
                        <a:ext uri="{9D8B030D-6E8A-4147-A177-3AD203B41FA5}">
                          <a16:colId xmlns:a16="http://schemas.microsoft.com/office/drawing/2014/main" val="1510201248"/>
                        </a:ext>
                      </a:extLst>
                    </a:gridCol>
                    <a:gridCol w="4403704">
                      <a:extLst>
                        <a:ext uri="{9D8B030D-6E8A-4147-A177-3AD203B41FA5}">
                          <a16:colId xmlns:a16="http://schemas.microsoft.com/office/drawing/2014/main" val="116769186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CLARA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CLARANS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18796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Greedy search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225010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Search Method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Local search on small random sample of observations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Nearest neighbor search on random samples of global graph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392182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Computational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042" t="-217037" r="-107864" b="-11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Harder to quantify, but likely worse than CLARA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771690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Robustness and identification of outliers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Small samples susceptible to outlier influence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5975" t="-317037" r="-553" b="-17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8686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74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There is on-going research into scalable K-medoids algorithms </a:t>
            </a:r>
          </a:p>
          <a:p>
            <a:r>
              <a:rPr lang="en-US" dirty="0">
                <a:latin typeface="+mn-lt"/>
              </a:rPr>
              <a:t>The original PAM algorithm was first published as </a:t>
            </a:r>
            <a:r>
              <a:rPr lang="en-US" dirty="0">
                <a:latin typeface="+mn-lt"/>
                <a:hlinkClick r:id="rId3"/>
              </a:rPr>
              <a:t>Chapter 2 of Finding Groups in Data, Kaufmann and </a:t>
            </a:r>
            <a:r>
              <a:rPr lang="en-US" dirty="0" err="1">
                <a:latin typeface="+mn-lt"/>
                <a:hlinkClick r:id="rId3"/>
              </a:rPr>
              <a:t>Rousseeuw</a:t>
            </a:r>
            <a:r>
              <a:rPr lang="en-US" dirty="0">
                <a:latin typeface="+mn-lt"/>
                <a:hlinkClick r:id="rId3"/>
              </a:rPr>
              <a:t>, Wiley, 1990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The original CLARANS paper is behind paywalls, for a review of k-medoids methods including </a:t>
            </a:r>
            <a:r>
              <a:rPr lang="en-US" dirty="0">
                <a:latin typeface="+mn-lt"/>
                <a:hlinkClick r:id="rId4"/>
              </a:rPr>
              <a:t>CLARANS: a method for clustering objects for spatial data, Ng and Hue, 2002</a:t>
            </a:r>
            <a:r>
              <a:rPr lang="en-US" dirty="0">
                <a:latin typeface="+mn-lt"/>
              </a:rPr>
              <a:t>      </a:t>
            </a:r>
          </a:p>
          <a:p>
            <a:r>
              <a:rPr lang="en-US" dirty="0">
                <a:latin typeface="+mn-lt"/>
              </a:rPr>
              <a:t>A recently developed algorithm to significantly improve the scalability of  k-medoids algorithm can be found in </a:t>
            </a:r>
            <a:r>
              <a:rPr lang="en-US" dirty="0">
                <a:latin typeface="+mn-lt"/>
                <a:hlinkClick r:id="rId5"/>
              </a:rPr>
              <a:t>Faster k-Medoids Clustering: Improving the PAM, CLARA, and CLARANS Algorithms, Schubert and </a:t>
            </a:r>
            <a:r>
              <a:rPr lang="en-US" dirty="0" err="1">
                <a:latin typeface="+mn-lt"/>
                <a:hlinkClick r:id="rId5"/>
              </a:rPr>
              <a:t>Rousseeuw</a:t>
            </a:r>
            <a:r>
              <a:rPr lang="en-US" dirty="0">
                <a:latin typeface="+mn-lt"/>
                <a:hlinkClick r:id="rId5"/>
              </a:rPr>
              <a:t>, 2019</a:t>
            </a:r>
            <a:r>
              <a:rPr lang="en-US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For a reasonable up to date review and comparison of K-medoids algorithms see </a:t>
            </a:r>
            <a:r>
              <a:rPr lang="en-US" dirty="0">
                <a:latin typeface="+mn-lt"/>
                <a:hlinkClick r:id="rId6"/>
              </a:rPr>
              <a:t>An Overview of Partitioning Algorithms in Clustering Techniques, </a:t>
            </a:r>
            <a:r>
              <a:rPr lang="en-US" dirty="0" err="1">
                <a:latin typeface="+mn-lt"/>
                <a:hlinkClick r:id="rId6"/>
              </a:rPr>
              <a:t>Skaget</a:t>
            </a:r>
            <a:r>
              <a:rPr lang="en-US" dirty="0">
                <a:latin typeface="+mn-lt"/>
                <a:hlinkClick r:id="rId6"/>
              </a:rPr>
              <a:t> and Pandya, 2016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931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K-medoids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11525250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Python API software for K-medoids algorithms </a:t>
            </a:r>
          </a:p>
          <a:p>
            <a:r>
              <a:rPr lang="en-US" dirty="0">
                <a:latin typeface="+mn-lt"/>
              </a:rPr>
              <a:t>The PAM and CLARA algorithms are implemented in </a:t>
            </a:r>
            <a:r>
              <a:rPr lang="en-US" dirty="0">
                <a:latin typeface="+mn-lt"/>
                <a:hlinkClick r:id="rId3"/>
              </a:rPr>
              <a:t>Scikit-Extra</a:t>
            </a:r>
            <a:r>
              <a:rPr lang="en-US" dirty="0">
                <a:latin typeface="+mn-lt"/>
              </a:rPr>
              <a:t> package</a:t>
            </a:r>
          </a:p>
          <a:p>
            <a:pPr lvl="1"/>
            <a:r>
              <a:rPr lang="en-US" dirty="0">
                <a:latin typeface="+mn-lt"/>
              </a:rPr>
              <a:t>Conforms to Scikit standards for API and good documentation   </a:t>
            </a:r>
          </a:p>
          <a:p>
            <a:r>
              <a:rPr lang="en-US" dirty="0">
                <a:latin typeface="+mn-lt"/>
              </a:rPr>
              <a:t>A versions of the PAM algorithm, CLARANS algorithm and several other clustering algorithms and utilities are implemented in the </a:t>
            </a:r>
            <a:r>
              <a:rPr lang="en-US" dirty="0" err="1">
                <a:latin typeface="+mn-lt"/>
                <a:hlinkClick r:id="rId4"/>
              </a:rPr>
              <a:t>Pyclustering</a:t>
            </a:r>
            <a:r>
              <a:rPr lang="en-US" dirty="0">
                <a:latin typeface="+mn-lt"/>
                <a:hlinkClick r:id="rId4"/>
              </a:rPr>
              <a:t> package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Unfortunately, this package has some rough edges and is not well documented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37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362-6456-0F5B-5570-FA2A30C5C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Affinity-Based Clustering Models</a:t>
            </a:r>
          </a:p>
        </p:txBody>
      </p:sp>
    </p:spTree>
    <p:extLst>
      <p:ext uri="{BB962C8B-B14F-4D97-AF65-F5344CB8AC3E}">
        <p14:creationId xmlns:p14="http://schemas.microsoft.com/office/powerpoint/2010/main" val="158010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Affinity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we build a clustering algorithm using a mapping to a few </a:t>
            </a:r>
            <a:r>
              <a:rPr lang="en-US" b="1" dirty="0">
                <a:latin typeface="+mn-lt"/>
              </a:rPr>
              <a:t>prototypes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exemplar points</a:t>
            </a:r>
            <a:r>
              <a:rPr lang="en-US" dirty="0">
                <a:latin typeface="+mn-lt"/>
              </a:rPr>
              <a:t>? </a:t>
            </a:r>
          </a:p>
          <a:p>
            <a:r>
              <a:rPr lang="en-US" dirty="0">
                <a:latin typeface="+mn-lt"/>
              </a:rPr>
              <a:t>Yes</a:t>
            </a:r>
          </a:p>
          <a:p>
            <a:r>
              <a:rPr lang="en-US" dirty="0">
                <a:latin typeface="+mn-lt"/>
              </a:rPr>
              <a:t>Affinity clustering uses a message passing algorithm to find these </a:t>
            </a:r>
            <a:r>
              <a:rPr lang="en-US" b="1" dirty="0">
                <a:latin typeface="+mn-lt"/>
              </a:rPr>
              <a:t>responsible or exemplar points</a:t>
            </a:r>
            <a:r>
              <a:rPr lang="en-US" dirty="0">
                <a:latin typeface="+mn-lt"/>
              </a:rPr>
              <a:t> and create a graph of cluster members</a:t>
            </a:r>
          </a:p>
          <a:p>
            <a:r>
              <a:rPr lang="en-US" dirty="0">
                <a:latin typeface="+mn-lt"/>
              </a:rPr>
              <a:t>Affinity clustering provides useful results in many situations</a:t>
            </a:r>
          </a:p>
          <a:p>
            <a:pPr lvl="1"/>
            <a:r>
              <a:rPr lang="en-US" dirty="0">
                <a:latin typeface="+mn-lt"/>
              </a:rPr>
              <a:t>Document similarity</a:t>
            </a:r>
          </a:p>
          <a:p>
            <a:pPr lvl="1"/>
            <a:r>
              <a:rPr lang="en-US" dirty="0">
                <a:latin typeface="+mn-lt"/>
              </a:rPr>
              <a:t>Computer vision</a:t>
            </a:r>
          </a:p>
          <a:p>
            <a:pPr lvl="1"/>
            <a:r>
              <a:rPr lang="en-US" dirty="0">
                <a:latin typeface="+mn-lt"/>
              </a:rPr>
              <a:t>Computational genetics</a:t>
            </a:r>
          </a:p>
          <a:p>
            <a:pPr lvl="1"/>
            <a:r>
              <a:rPr lang="en-US" dirty="0">
                <a:latin typeface="+mn-lt"/>
              </a:rPr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150730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Affinity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7275" y="896079"/>
            <a:ext cx="11321349" cy="5602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Can we build a clustering algorithm using a relationship to a few </a:t>
            </a:r>
            <a:r>
              <a:rPr lang="en-US" b="1" dirty="0">
                <a:latin typeface="+mn-lt"/>
              </a:rPr>
              <a:t>prototypes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exemplar points</a:t>
            </a:r>
            <a:r>
              <a:rPr lang="en-US" dirty="0">
                <a:latin typeface="+mn-lt"/>
              </a:rPr>
              <a:t>? </a:t>
            </a:r>
          </a:p>
          <a:p>
            <a:r>
              <a:rPr lang="en-US" dirty="0">
                <a:latin typeface="+mn-lt"/>
              </a:rPr>
              <a:t>The number of representative points, and clusters, are determined by the algorithms</a:t>
            </a:r>
          </a:p>
          <a:p>
            <a:pPr lvl="1"/>
            <a:r>
              <a:rPr lang="en-US" dirty="0">
                <a:latin typeface="+mn-lt"/>
              </a:rPr>
              <a:t>No need to specify number of clusters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The message passing algorithm iteratively determines</a:t>
            </a:r>
          </a:p>
          <a:p>
            <a:pPr lvl="1"/>
            <a:r>
              <a:rPr lang="en-US" b="1" dirty="0">
                <a:latin typeface="+mn-lt"/>
              </a:rPr>
              <a:t>Responsibility</a:t>
            </a:r>
            <a:r>
              <a:rPr lang="en-US" dirty="0">
                <a:latin typeface="+mn-lt"/>
              </a:rPr>
              <a:t>, </a:t>
            </a:r>
            <a:r>
              <a:rPr lang="en-US" i="1" dirty="0">
                <a:latin typeface="+mn-lt"/>
              </a:rPr>
              <a:t>r(</a:t>
            </a:r>
            <a:r>
              <a:rPr lang="en-US" i="1" dirty="0" err="1">
                <a:latin typeface="+mn-lt"/>
              </a:rPr>
              <a:t>i,k</a:t>
            </a:r>
            <a:r>
              <a:rPr lang="en-US" i="1" dirty="0">
                <a:latin typeface="+mn-lt"/>
              </a:rPr>
              <a:t>),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of sample</a:t>
            </a:r>
            <a:r>
              <a:rPr lang="en-US" i="1" dirty="0">
                <a:latin typeface="+mn-lt"/>
              </a:rPr>
              <a:t> k </a:t>
            </a:r>
            <a:r>
              <a:rPr lang="en-US" dirty="0">
                <a:latin typeface="+mn-lt"/>
              </a:rPr>
              <a:t>to be the </a:t>
            </a:r>
            <a:r>
              <a:rPr lang="en-US" b="1" dirty="0">
                <a:latin typeface="+mn-lt"/>
              </a:rPr>
              <a:t>exemplar </a:t>
            </a:r>
            <a:r>
              <a:rPr lang="en-US" dirty="0">
                <a:latin typeface="+mn-lt"/>
              </a:rPr>
              <a:t>of sample </a:t>
            </a:r>
            <a:r>
              <a:rPr lang="en-US" i="1" dirty="0" err="1">
                <a:latin typeface="+mn-lt"/>
              </a:rPr>
              <a:t>i</a:t>
            </a:r>
            <a:endParaRPr lang="en-US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Availability, </a:t>
            </a:r>
            <a:r>
              <a:rPr lang="en-US" i="1" dirty="0">
                <a:latin typeface="+mn-lt"/>
              </a:rPr>
              <a:t>a(</a:t>
            </a:r>
            <a:r>
              <a:rPr lang="en-US" i="1" dirty="0" err="1">
                <a:latin typeface="+mn-lt"/>
              </a:rPr>
              <a:t>i,k</a:t>
            </a:r>
            <a:r>
              <a:rPr lang="en-US" i="1" dirty="0">
                <a:latin typeface="+mn-lt"/>
              </a:rPr>
              <a:t>), </a:t>
            </a:r>
            <a:r>
              <a:rPr lang="en-US" dirty="0">
                <a:latin typeface="+mn-lt"/>
              </a:rPr>
              <a:t>of sample </a:t>
            </a:r>
            <a:r>
              <a:rPr lang="en-US" i="1" dirty="0">
                <a:latin typeface="+mn-lt"/>
              </a:rPr>
              <a:t>k </a:t>
            </a:r>
            <a:r>
              <a:rPr lang="en-US" dirty="0">
                <a:latin typeface="+mn-lt"/>
              </a:rPr>
              <a:t>to be a member of cluster with exemplar </a:t>
            </a:r>
            <a:r>
              <a:rPr lang="en-US" i="1" dirty="0" err="1">
                <a:latin typeface="+mn-lt"/>
              </a:rPr>
              <a:t>i</a:t>
            </a:r>
            <a:endParaRPr lang="en-US" i="1" dirty="0">
              <a:latin typeface="+mn-lt"/>
            </a:endParaRPr>
          </a:p>
          <a:p>
            <a:r>
              <a:rPr lang="en-US" dirty="0">
                <a:latin typeface="+mn-lt"/>
              </a:rPr>
              <a:t>Exemplar points are central nodes of a </a:t>
            </a:r>
            <a:r>
              <a:rPr lang="en-US" b="1" dirty="0">
                <a:latin typeface="+mn-lt"/>
              </a:rPr>
              <a:t>graph component</a:t>
            </a:r>
            <a:r>
              <a:rPr lang="en-US" dirty="0">
                <a:latin typeface="+mn-lt"/>
              </a:rPr>
              <a:t>, or </a:t>
            </a:r>
            <a:r>
              <a:rPr lang="en-US" b="1" dirty="0">
                <a:latin typeface="+mn-lt"/>
              </a:rPr>
              <a:t>cluster</a:t>
            </a:r>
          </a:p>
          <a:p>
            <a:pPr lvl="1"/>
            <a:r>
              <a:rPr lang="en-US" dirty="0">
                <a:latin typeface="+mn-lt"/>
              </a:rPr>
              <a:t>Graph components have no edges between them </a:t>
            </a:r>
          </a:p>
          <a:p>
            <a:pPr lvl="1"/>
            <a:r>
              <a:rPr lang="en-US" dirty="0">
                <a:latin typeface="+mn-lt"/>
              </a:rPr>
              <a:t>Samples in component are connected to the exemplars by undirected edges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522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Affinity Clustering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For the affinity clustering algorithm, graph nodes </a:t>
                </a:r>
                <a:r>
                  <a:rPr lang="en-US" b="1" dirty="0">
                    <a:latin typeface="+mn-lt"/>
                  </a:rPr>
                  <a:t>pass messages </a:t>
                </a:r>
              </a:p>
              <a:p>
                <a:r>
                  <a:rPr lang="en-US" dirty="0">
                    <a:latin typeface="+mn-lt"/>
                  </a:rPr>
                  <a:t>Given the similarity between points, </a:t>
                </a:r>
                <a:r>
                  <a:rPr lang="en-US" i="1" dirty="0">
                    <a:latin typeface="+mn-lt"/>
                  </a:rPr>
                  <a:t>s(</a:t>
                </a:r>
                <a:r>
                  <a:rPr lang="en-US" i="1" dirty="0" err="1">
                    <a:latin typeface="+mn-lt"/>
                  </a:rPr>
                  <a:t>i,k</a:t>
                </a:r>
                <a:r>
                  <a:rPr lang="en-US" i="1" dirty="0">
                    <a:latin typeface="+mn-lt"/>
                  </a:rPr>
                  <a:t>)</a:t>
                </a:r>
                <a:r>
                  <a:rPr lang="en-US" dirty="0">
                    <a:latin typeface="+mn-lt"/>
                  </a:rPr>
                  <a:t>, the algorithm follows these steps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Set initial values, </a:t>
                </a:r>
                <a:r>
                  <a:rPr lang="en-US" i="1" dirty="0">
                    <a:latin typeface="+mn-lt"/>
                  </a:rPr>
                  <a:t>r(</a:t>
                </a:r>
                <a:r>
                  <a:rPr lang="en-US" i="1" dirty="0" err="1">
                    <a:latin typeface="+mn-lt"/>
                  </a:rPr>
                  <a:t>i,k</a:t>
                </a:r>
                <a:r>
                  <a:rPr lang="en-US" i="1" dirty="0">
                    <a:latin typeface="+mn-lt"/>
                  </a:rPr>
                  <a:t>)</a:t>
                </a:r>
                <a:r>
                  <a:rPr lang="en-US" dirty="0">
                    <a:latin typeface="+mn-lt"/>
                  </a:rPr>
                  <a:t> = 0, </a:t>
                </a:r>
                <a:r>
                  <a:rPr lang="en-US" i="1" dirty="0">
                    <a:latin typeface="+mn-lt"/>
                  </a:rPr>
                  <a:t>a(</a:t>
                </a:r>
                <a:r>
                  <a:rPr lang="en-US" i="1" dirty="0" err="1">
                    <a:latin typeface="+mn-lt"/>
                  </a:rPr>
                  <a:t>i,k</a:t>
                </a:r>
                <a:r>
                  <a:rPr lang="en-US" i="1" dirty="0">
                    <a:latin typeface="+mn-lt"/>
                  </a:rPr>
                  <a:t>)</a:t>
                </a:r>
                <a:r>
                  <a:rPr lang="en-US" dirty="0">
                    <a:latin typeface="+mn-lt"/>
                  </a:rPr>
                  <a:t> = 0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+mn-lt"/>
                  </a:rPr>
                  <a:t>Update the responsibility of node </a:t>
                </a:r>
                <a:r>
                  <a:rPr lang="en-US" i="1" dirty="0" err="1">
                    <a:latin typeface="+mn-lt"/>
                  </a:rPr>
                  <a:t>i</a:t>
                </a:r>
                <a:r>
                  <a:rPr lang="en-US" dirty="0">
                    <a:latin typeface="+mn-lt"/>
                  </a:rPr>
                  <a:t> to node</a:t>
                </a:r>
                <a:r>
                  <a:rPr lang="en-US" i="1" dirty="0">
                    <a:latin typeface="+mn-lt"/>
                  </a:rPr>
                  <a:t> k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dirty="0">
                    <a:latin typeface="+mn-lt"/>
                  </a:rPr>
                  <a:t>Update the availability of node </a:t>
                </a:r>
                <a:r>
                  <a:rPr lang="en-US" i="1" dirty="0" err="1">
                    <a:latin typeface="+mn-lt"/>
                  </a:rPr>
                  <a:t>i</a:t>
                </a:r>
                <a:r>
                  <a:rPr lang="en-US" i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to node</a:t>
                </a:r>
                <a:r>
                  <a:rPr lang="en-US" i="1" dirty="0">
                    <a:latin typeface="+mn-lt"/>
                  </a:rPr>
                  <a:t> k</a:t>
                </a:r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∀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}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 startAt="4"/>
                </a:pPr>
                <a:r>
                  <a:rPr lang="en-US" dirty="0">
                    <a:latin typeface="+mn-lt"/>
                  </a:rPr>
                  <a:t>Repeat steps 2 and 3 until convergence</a:t>
                </a:r>
              </a:p>
              <a:p>
                <a:pPr marL="914400" lvl="1" indent="-457200">
                  <a:buFont typeface="+mj-lt"/>
                  <a:buAutoNum type="arabicPeriod" startAt="4"/>
                </a:pPr>
                <a:endParaRPr lang="en-US" dirty="0">
                  <a:latin typeface="+mn-lt"/>
                </a:endParaRPr>
              </a:p>
              <a:p>
                <a:pPr marL="914400" lvl="1" indent="-457200">
                  <a:buFont typeface="+mj-lt"/>
                  <a:buAutoNum type="arabicPeriod" startAt="4"/>
                </a:pPr>
                <a:endParaRPr lang="en-US" dirty="0">
                  <a:latin typeface="+mn-lt"/>
                </a:endParaRPr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537275" y="896079"/>
                <a:ext cx="11321349" cy="5602877"/>
              </a:xfrm>
              <a:blipFill>
                <a:blip r:embed="rId3"/>
                <a:stretch>
                  <a:fillRect l="-1077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5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22068</TotalTime>
  <Words>1810</Words>
  <Application>Microsoft Office PowerPoint</Application>
  <PresentationFormat>Widescreen</PresentationFormat>
  <Paragraphs>245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Courier New</vt:lpstr>
      <vt:lpstr>Segoe UI</vt:lpstr>
      <vt:lpstr>Segoe UI Light</vt:lpstr>
      <vt:lpstr>Office Theme</vt:lpstr>
      <vt:lpstr>1_Office Theme</vt:lpstr>
      <vt:lpstr>CSCI E-96 Data Mining, Exploration and Discovery Introduction to Clustering Models Part 2</vt:lpstr>
      <vt:lpstr>Algorithms for Non-Euclidean Spaces</vt:lpstr>
      <vt:lpstr>K-Mediods and CLARA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K-medoids Algorithm</vt:lpstr>
      <vt:lpstr>Affinity-Based Clustering Models</vt:lpstr>
      <vt:lpstr>Affinity Clustering </vt:lpstr>
      <vt:lpstr>Affinity Clustering </vt:lpstr>
      <vt:lpstr>Affinity Clustering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854</cp:revision>
  <dcterms:created xsi:type="dcterms:W3CDTF">2020-07-25T22:15:22Z</dcterms:created>
  <dcterms:modified xsi:type="dcterms:W3CDTF">2025-11-16T20:55:09Z</dcterms:modified>
</cp:coreProperties>
</file>