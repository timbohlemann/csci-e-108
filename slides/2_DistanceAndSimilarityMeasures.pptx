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719" r:id="rId2"/>
    <p:sldId id="819" r:id="rId3"/>
    <p:sldId id="604" r:id="rId4"/>
    <p:sldId id="687" r:id="rId5"/>
    <p:sldId id="778" r:id="rId6"/>
    <p:sldId id="686" r:id="rId7"/>
    <p:sldId id="672" r:id="rId8"/>
    <p:sldId id="608" r:id="rId9"/>
    <p:sldId id="612" r:id="rId10"/>
    <p:sldId id="722" r:id="rId11"/>
    <p:sldId id="779" r:id="rId12"/>
    <p:sldId id="607" r:id="rId13"/>
    <p:sldId id="673" r:id="rId14"/>
    <p:sldId id="674" r:id="rId15"/>
    <p:sldId id="783" r:id="rId16"/>
    <p:sldId id="721" r:id="rId17"/>
    <p:sldId id="732" r:id="rId18"/>
    <p:sldId id="734" r:id="rId19"/>
    <p:sldId id="736" r:id="rId20"/>
    <p:sldId id="735" r:id="rId21"/>
    <p:sldId id="680" r:id="rId22"/>
    <p:sldId id="730" r:id="rId23"/>
    <p:sldId id="610" r:id="rId24"/>
    <p:sldId id="611" r:id="rId25"/>
    <p:sldId id="780" r:id="rId26"/>
    <p:sldId id="609" r:id="rId27"/>
    <p:sldId id="613" r:id="rId28"/>
    <p:sldId id="616" r:id="rId29"/>
    <p:sldId id="615" r:id="rId30"/>
    <p:sldId id="617" r:id="rId31"/>
    <p:sldId id="618" r:id="rId32"/>
    <p:sldId id="781" r:id="rId33"/>
    <p:sldId id="641" r:id="rId34"/>
    <p:sldId id="679" r:id="rId35"/>
    <p:sldId id="724" r:id="rId36"/>
    <p:sldId id="723" r:id="rId37"/>
    <p:sldId id="737" r:id="rId38"/>
    <p:sldId id="685" r:id="rId39"/>
    <p:sldId id="682" r:id="rId40"/>
    <p:sldId id="683" r:id="rId41"/>
    <p:sldId id="782" r:id="rId42"/>
    <p:sldId id="725" r:id="rId43"/>
    <p:sldId id="726" r:id="rId44"/>
    <p:sldId id="727" r:id="rId45"/>
    <p:sldId id="728" r:id="rId46"/>
    <p:sldId id="729" r:id="rId47"/>
    <p:sldId id="820" r:id="rId48"/>
    <p:sldId id="784" r:id="rId49"/>
    <p:sldId id="720"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3" autoAdjust="0"/>
    <p:restoredTop sz="94660"/>
  </p:normalViewPr>
  <p:slideViewPr>
    <p:cSldViewPr snapToGrid="0">
      <p:cViewPr varScale="1">
        <p:scale>
          <a:sx n="68" d="100"/>
          <a:sy n="68" d="100"/>
        </p:scale>
        <p:origin x="48" y="2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6</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12</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26</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33</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42</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DC9E5-884D-1636-E679-AE020345E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9DEC40-64E0-4565-505B-6AC718D3BB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B724D-C4E0-B0EC-327E-00D87F112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B6FF75-971B-3BA5-6572-0A792BD4032D}"/>
              </a:ext>
            </a:extLst>
          </p:cNvPr>
          <p:cNvSpPr>
            <a:spLocks noGrp="1"/>
          </p:cNvSpPr>
          <p:nvPr>
            <p:ph type="sldNum" sz="quarter" idx="10"/>
          </p:nvPr>
        </p:nvSpPr>
        <p:spPr/>
        <p:txBody>
          <a:bodyPr/>
          <a:lstStyle/>
          <a:p>
            <a:fld id="{4CFD207A-07DF-40AD-A916-9872E089CE7A}" type="slidenum">
              <a:rPr lang="en-US" smtClean="0"/>
              <a:pPr/>
              <a:t>47</a:t>
            </a:fld>
            <a:endParaRPr lang="en-US"/>
          </a:p>
        </p:txBody>
      </p:sp>
    </p:spTree>
    <p:extLst>
      <p:ext uri="{BB962C8B-B14F-4D97-AF65-F5344CB8AC3E}">
        <p14:creationId xmlns:p14="http://schemas.microsoft.com/office/powerpoint/2010/main" val="29324717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49</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6/23/2026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6/23/2026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2.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3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6408020" y="5172609"/>
            <a:ext cx="2038966"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8832447" y="5179257"/>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t>Data minging </a:t>
            </a:r>
            <a:r>
              <a:rPr lang="en-US" dirty="0"/>
              <a:t>algorithms are built on the foundation of distance and similarity measures  </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fontScale="92500" lnSpcReduction="10000"/>
          </a:bodyPr>
          <a:lstStyle/>
          <a:p>
            <a:pPr marL="0" indent="0">
              <a:buNone/>
            </a:pPr>
            <a:r>
              <a:rPr lang="en-US" dirty="0">
                <a:latin typeface="+mn-lt"/>
              </a:rPr>
              <a:t>Many data mining algorithms require unsupervised searching for the </a:t>
            </a:r>
            <a:r>
              <a:rPr lang="en-US" b="1" dirty="0">
                <a:latin typeface="+mn-lt"/>
              </a:rPr>
              <a:t>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Discovering similar mRNA sequences </a:t>
            </a:r>
          </a:p>
          <a:p>
            <a:r>
              <a:rPr lang="en-US" dirty="0">
                <a:latin typeface="+mn-lt"/>
              </a:rPr>
              <a:t>Finding the most similar sensor streams </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a:t>
            </a:r>
            <a:r>
              <a:rPr lang="en-US" b="1" dirty="0">
                <a:latin typeface="+mn-lt"/>
              </a:rPr>
              <a:t>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A distance (similarity) metric, </a:t>
                </a:r>
                <a14:m>
                  <m:oMath xmlns:m="http://schemas.openxmlformats.org/officeDocument/2006/math">
                    <m:r>
                      <a:rPr lang="en-US" sz="3200" i="1">
                        <a:latin typeface="Cambria Math" panose="02040503050406030204" pitchFamily="18" charset="0"/>
                        <a:ea typeface="Cambria Math" panose="02040503050406030204" pitchFamily="18" charset="0"/>
                      </a:rPr>
                      <m:t>𝐷</m:t>
                    </m:r>
                  </m:oMath>
                </a14:m>
                <a:r>
                  <a:rPr lang="en-US" sz="3200" dirty="0">
                    <a:latin typeface="+mn-lt"/>
                  </a:rPr>
                  <a:t>, </a:t>
                </a:r>
                <a:r>
                  <a:rPr lang="en-US" sz="3200" b="1" dirty="0">
                    <a:latin typeface="+mn-lt"/>
                  </a:rPr>
                  <a:t>maps two vector valued variables, </a:t>
                </a:r>
                <a14:m>
                  <m:oMath xmlns:m="http://schemas.openxmlformats.org/officeDocument/2006/math">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oMath>
                </a14:m>
                <a:r>
                  <a:rPr lang="en-US" sz="3200" dirty="0">
                    <a:latin typeface="+mn-lt"/>
                  </a:rPr>
                  <a:t>, to a </a:t>
                </a:r>
                <a:r>
                  <a:rPr lang="en-US" sz="3200" b="1" dirty="0">
                    <a:latin typeface="+mn-lt"/>
                  </a:rPr>
                  <a:t>real valued scalar</a:t>
                </a:r>
                <a:r>
                  <a:rPr lang="en-US" sz="3200" dirty="0">
                    <a:latin typeface="+mn-lt"/>
                  </a:rPr>
                  <a:t>, </a:t>
                </a:r>
                <a14:m>
                  <m:oMath xmlns:m="http://schemas.openxmlformats.org/officeDocument/2006/math">
                    <m:r>
                      <a:rPr lang="en-US" sz="3200" i="1">
                        <a:latin typeface="Cambria Math" panose="02040503050406030204" pitchFamily="18" charset="0"/>
                        <a:ea typeface="Cambria Math" panose="02040503050406030204" pitchFamily="18" charset="0"/>
                      </a:rPr>
                      <m:t>𝑠</m:t>
                    </m:r>
                  </m:oMath>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ea typeface="Cambria Math" panose="02040503050406030204" pitchFamily="18" charset="0"/>
                        </a:rPr>
                        <m:t>𝐷</m:t>
                      </m:r>
                      <m:r>
                        <a:rPr lang="en-US" sz="3200" b="0" i="1" smtClean="0">
                          <a:latin typeface="Cambria Math" panose="02040503050406030204" pitchFamily="18" charset="0"/>
                          <a:ea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ctrlPr>
                                    <a:rPr lang="en-US" sz="2400" i="1" smtClean="0">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But, weighting is problem dependent!</a:t>
            </a:r>
          </a:p>
          <a:p>
            <a:pPr lvl="1"/>
            <a:r>
              <a:rPr lang="en-US" dirty="0">
                <a:latin typeface="+mn-lt"/>
              </a:rPr>
              <a:t>Unfortunately, no simple procedure for correct weighting</a:t>
            </a:r>
          </a:p>
          <a:p>
            <a:pPr lvl="1"/>
            <a:r>
              <a:rPr lang="en-US" dirty="0">
                <a:latin typeface="+mn-lt"/>
              </a:rPr>
              <a:t>Do I care more about the (ordinal) star rating or calories of the meal (numeric) when choosing a restaurant? </a:t>
            </a: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argPr>
                            <m:argSz m:val="-1"/>
                          </m:argP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pPr marL="0" indent="0">
                  <a:buNone/>
                </a:pPr>
                <a:endParaRPr lang="en-US" dirty="0">
                  <a:latin typeface="+mn-lt"/>
                </a:endParaRPr>
              </a:p>
            </p:txBody>
          </p:sp>
        </mc:Choice>
        <mc:Fallback xmlns="">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h</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h</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mc:Choice xmlns:a14="http://schemas.microsoft.com/office/drawing/2010/main"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009F9-38F8-D01E-FD1B-36661DE8F9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A2C7FF-A030-E540-3122-5EC52D0805A5}"/>
              </a:ext>
            </a:extLst>
          </p:cNvPr>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A4F0993-0786-0096-C5C8-4A5AB5B496D8}"/>
                  </a:ext>
                </a:extLst>
              </p:cNvPr>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Represent a graph by its association matrix, </a:t>
                </a:r>
                <a:r>
                  <a:rPr lang="en-US" i="1" dirty="0">
                    <a:latin typeface="+mn-lt"/>
                  </a:rPr>
                  <a:t>A</a:t>
                </a:r>
                <a:endParaRPr lang="en-US" sz="2800" i="1" baseline="-25000" dirty="0">
                  <a:latin typeface="+mn-lt"/>
                </a:endParaRPr>
              </a:p>
              <a:p>
                <a:r>
                  <a:rPr lang="en-US" dirty="0">
                    <a:latin typeface="+mn-lt"/>
                  </a:rPr>
                  <a:t>The values in the association matrix represent the distance or similarity between nodes of the graph </a:t>
                </a:r>
              </a:p>
              <a:p>
                <a:pPr lvl="1"/>
                <a:r>
                  <a:rPr lang="en-US" dirty="0">
                    <a:latin typeface="+mn-lt"/>
                  </a:rPr>
                  <a:t>Example the distance between node </a:t>
                </a:r>
                <a14:m>
                  <m:oMath xmlns:m="http://schemas.openxmlformats.org/officeDocument/2006/math">
                    <m:r>
                      <a:rPr lang="en-US" i="1">
                        <a:latin typeface="Cambria Math" panose="02040503050406030204" pitchFamily="18" charset="0"/>
                      </a:rPr>
                      <m:t>𝑖</m:t>
                    </m:r>
                  </m:oMath>
                </a14:m>
                <a:r>
                  <a:rPr lang="en-US" dirty="0">
                    <a:latin typeface="+mn-lt"/>
                  </a:rPr>
                  <a:t> and node </a:t>
                </a:r>
                <a14:m>
                  <m:oMath xmlns:m="http://schemas.openxmlformats.org/officeDocument/2006/math">
                    <m:r>
                      <a:rPr lang="en-US" i="1">
                        <a:latin typeface="Cambria Math" panose="02040503050406030204" pitchFamily="18" charset="0"/>
                      </a:rPr>
                      <m:t>𝑗</m:t>
                    </m:r>
                  </m:oMath>
                </a14:m>
                <a:r>
                  <a:rPr lang="en-US" dirty="0">
                    <a:latin typeface="+mn-lt"/>
                  </a:rPr>
                  <a:t> is represented as the matrix element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oMath>
                </a14:m>
                <a:endParaRPr lang="en-US" dirty="0">
                  <a:latin typeface="+mn-lt"/>
                </a:endParaRPr>
              </a:p>
              <a:p>
                <a:r>
                  <a:rPr lang="en-US" dirty="0">
                    <a:latin typeface="+mn-lt"/>
                  </a:rPr>
                  <a:t>A dense graph has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𝒏</m:t>
                            </m:r>
                          </m:e>
                          <m:sup>
                            <m:r>
                              <a:rPr lang="en-US" b="1" i="1">
                                <a:latin typeface="Cambria Math" panose="02040503050406030204" pitchFamily="18" charset="0"/>
                              </a:rPr>
                              <m:t>𝟐</m:t>
                            </m:r>
                          </m:sup>
                        </m:sSup>
                      </m:e>
                    </m:d>
                  </m:oMath>
                </a14:m>
                <a:r>
                  <a:rPr lang="en-US" b="1" dirty="0">
                    <a:latin typeface="+mn-lt"/>
                  </a:rPr>
                  <a:t> </a:t>
                </a:r>
                <a:r>
                  <a:rPr lang="en-US" dirty="0">
                    <a:latin typeface="+mn-lt"/>
                  </a:rPr>
                  <a:t>edges in the association matrix   </a:t>
                </a:r>
              </a:p>
              <a:p>
                <a:pPr lvl="1"/>
                <a:r>
                  <a:rPr lang="en-US" dirty="0">
                    <a:latin typeface="+mn-lt"/>
                  </a:rPr>
                  <a:t>A distance or similarity graph is symmetric,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𝑖</m:t>
                        </m:r>
                      </m:sub>
                    </m:sSub>
                  </m:oMath>
                </a14:m>
                <a:r>
                  <a:rPr lang="en-US" dirty="0">
                    <a:latin typeface="+mn-lt"/>
                  </a:rPr>
                  <a:t>, and has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oMath>
                </a14:m>
                <a:r>
                  <a:rPr lang="en-US" dirty="0">
                    <a:latin typeface="+mn-lt"/>
                  </a:rPr>
                  <a:t> unique values</a:t>
                </a:r>
              </a:p>
              <a:p>
                <a:pPr lvl="1"/>
                <a:r>
                  <a:rPr lang="en-US" dirty="0">
                    <a:latin typeface="+mn-lt"/>
                  </a:rPr>
                  <a:t>The graph can be represented by an upper or lower triangular matrix  </a:t>
                </a:r>
              </a:p>
              <a:p>
                <a:r>
                  <a:rPr lang="en-US" b="1" dirty="0">
                    <a:latin typeface="+mn-lt"/>
                  </a:rPr>
                  <a:t>Sparse nearest neighbor graph representation</a:t>
                </a:r>
                <a:r>
                  <a:rPr lang="en-US" dirty="0">
                    <a:latin typeface="+mn-lt"/>
                  </a:rPr>
                  <a:t> reduces the number of nonzero edge values     </a:t>
                </a:r>
              </a:p>
              <a:p>
                <a:pPr lvl="1"/>
                <a:r>
                  <a:rPr lang="en-US" dirty="0">
                    <a:latin typeface="+mn-lt"/>
                  </a:rPr>
                  <a:t>We do not need to store the zero values   </a:t>
                </a:r>
              </a:p>
              <a:p>
                <a:pPr lvl="1"/>
                <a:r>
                  <a:rPr lang="en-US" dirty="0">
                    <a:latin typeface="+mn-lt"/>
                  </a:rPr>
                  <a:t>Can use </a:t>
                </a:r>
                <a14:m>
                  <m:oMath xmlns:m="http://schemas.openxmlformats.org/officeDocument/2006/math">
                    <m:d>
                      <m:dPr>
                        <m:ctrlPr>
                          <a:rPr lang="en-US"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r>
                          <a:rPr lang="en-US" b="0" i="1" smtClean="0">
                            <a:latin typeface="Cambria Math" panose="02040503050406030204" pitchFamily="18" charset="0"/>
                          </a:rPr>
                          <m:t>𝑉</m:t>
                        </m:r>
                      </m:e>
                    </m:d>
                  </m:oMath>
                </a14:m>
                <a:r>
                  <a:rPr lang="en-US" dirty="0">
                    <a:latin typeface="+mn-lt"/>
                  </a:rPr>
                  <a:t> pairs with </a:t>
                </a:r>
                <a14:m>
                  <m:oMath xmlns:m="http://schemas.openxmlformats.org/officeDocument/2006/math">
                    <m:r>
                      <a:rPr lang="en-US" b="0" i="1" smtClean="0">
                        <a:latin typeface="Cambria Math" panose="02040503050406030204" pitchFamily="18" charset="0"/>
                      </a:rPr>
                      <m:t>𝑘𝑒𝑦</m:t>
                    </m:r>
                    <m:r>
                      <a:rPr lang="en-US" b="0" i="1" smtClean="0">
                        <a:latin typeface="Cambria Math" panose="02040503050406030204" pitchFamily="18" charset="0"/>
                      </a:rPr>
                      <m:t>= </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latin typeface="+mn-lt"/>
                  </a:rPr>
                  <a:t> and value of distance or similarity   </a:t>
                </a:r>
              </a:p>
              <a:p>
                <a:pPr lvl="1"/>
                <a:r>
                  <a:rPr lang="en-US" dirty="0">
                    <a:latin typeface="+mn-lt"/>
                  </a:rPr>
                  <a:t>The is know as the </a:t>
                </a:r>
                <a:r>
                  <a:rPr lang="en-US" b="1" dirty="0">
                    <a:latin typeface="+mn-lt"/>
                  </a:rPr>
                  <a:t>Yale representation</a:t>
                </a:r>
                <a:r>
                  <a:rPr lang="en-US" dirty="0">
                    <a:latin typeface="+mn-lt"/>
                  </a:rPr>
                  <a:t> of a sparse matrix   </a:t>
                </a:r>
                <a:r>
                  <a:rPr lang="en-US" b="1" dirty="0">
                    <a:latin typeface="+mn-lt"/>
                  </a:rPr>
                  <a:t>  </a:t>
                </a:r>
              </a:p>
              <a:p>
                <a:endParaRPr lang="en-US" dirty="0">
                  <a:latin typeface="+mn-lt"/>
                </a:endParaRPr>
              </a:p>
            </p:txBody>
          </p:sp>
        </mc:Choice>
        <mc:Fallback>
          <p:sp>
            <p:nvSpPr>
              <p:cNvPr id="3" name="Content Placeholder 2">
                <a:extLst>
                  <a:ext uri="{FF2B5EF4-FFF2-40B4-BE49-F238E27FC236}">
                    <a16:creationId xmlns:a16="http://schemas.microsoft.com/office/drawing/2014/main" id="{EA4F0993-0786-0096-C5C8-4A5AB5B496D8}"/>
                  </a:ext>
                </a:extLst>
              </p:cNvPr>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a:stretch>
              </a:blipFill>
            </p:spPr>
            <p:txBody>
              <a:bodyPr/>
              <a:lstStyle/>
              <a:p>
                <a:r>
                  <a:rPr lang="en-US">
                    <a:noFill/>
                  </a:rPr>
                  <a:t> </a:t>
                </a:r>
              </a:p>
            </p:txBody>
          </p:sp>
        </mc:Fallback>
      </mc:AlternateContent>
    </p:spTree>
    <p:extLst>
      <p:ext uri="{BB962C8B-B14F-4D97-AF65-F5344CB8AC3E}">
        <p14:creationId xmlns:p14="http://schemas.microsoft.com/office/powerpoint/2010/main" val="3859003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12512</TotalTime>
  <Words>3340</Words>
  <Application>Microsoft Office PowerPoint</Application>
  <PresentationFormat>Widescreen</PresentationFormat>
  <Paragraphs>560</Paragraphs>
  <Slides>49</Slides>
  <Notes>41</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Main topics in this course </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Massively 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288</cp:revision>
  <dcterms:created xsi:type="dcterms:W3CDTF">2021-06-01T18:04:30Z</dcterms:created>
  <dcterms:modified xsi:type="dcterms:W3CDTF">2026-06-24T03:58:10Z</dcterms:modified>
</cp:coreProperties>
</file>