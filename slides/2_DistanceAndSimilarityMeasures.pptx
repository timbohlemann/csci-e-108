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719" r:id="rId2"/>
    <p:sldId id="604" r:id="rId3"/>
    <p:sldId id="731" r:id="rId4"/>
    <p:sldId id="687" r:id="rId5"/>
    <p:sldId id="778" r:id="rId6"/>
    <p:sldId id="686" r:id="rId7"/>
    <p:sldId id="672" r:id="rId8"/>
    <p:sldId id="608" r:id="rId9"/>
    <p:sldId id="612" r:id="rId10"/>
    <p:sldId id="722" r:id="rId11"/>
    <p:sldId id="779" r:id="rId12"/>
    <p:sldId id="607" r:id="rId13"/>
    <p:sldId id="673" r:id="rId14"/>
    <p:sldId id="674" r:id="rId15"/>
    <p:sldId id="783" r:id="rId16"/>
    <p:sldId id="721" r:id="rId17"/>
    <p:sldId id="732" r:id="rId18"/>
    <p:sldId id="734" r:id="rId19"/>
    <p:sldId id="736" r:id="rId20"/>
    <p:sldId id="735" r:id="rId21"/>
    <p:sldId id="680" r:id="rId22"/>
    <p:sldId id="730" r:id="rId23"/>
    <p:sldId id="610" r:id="rId24"/>
    <p:sldId id="611" r:id="rId25"/>
    <p:sldId id="780" r:id="rId26"/>
    <p:sldId id="609" r:id="rId27"/>
    <p:sldId id="613" r:id="rId28"/>
    <p:sldId id="616" r:id="rId29"/>
    <p:sldId id="615" r:id="rId30"/>
    <p:sldId id="617" r:id="rId31"/>
    <p:sldId id="618" r:id="rId32"/>
    <p:sldId id="781" r:id="rId33"/>
    <p:sldId id="641" r:id="rId34"/>
    <p:sldId id="679" r:id="rId35"/>
    <p:sldId id="724" r:id="rId36"/>
    <p:sldId id="723" r:id="rId37"/>
    <p:sldId id="737" r:id="rId38"/>
    <p:sldId id="685" r:id="rId39"/>
    <p:sldId id="682" r:id="rId40"/>
    <p:sldId id="683" r:id="rId41"/>
    <p:sldId id="782" r:id="rId42"/>
    <p:sldId id="725" r:id="rId43"/>
    <p:sldId id="726" r:id="rId44"/>
    <p:sldId id="727" r:id="rId45"/>
    <p:sldId id="728" r:id="rId46"/>
    <p:sldId id="729" r:id="rId47"/>
    <p:sldId id="784" r:id="rId48"/>
    <p:sldId id="720"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983" autoAdjust="0"/>
    <p:restoredTop sz="94660"/>
  </p:normalViewPr>
  <p:slideViewPr>
    <p:cSldViewPr snapToGrid="0">
      <p:cViewPr varScale="1">
        <p:scale>
          <a:sx n="71" d="100"/>
          <a:sy n="71" d="100"/>
        </p:scale>
        <p:origin x="43" y="16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5/21/2026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34169082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6</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12</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26</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33</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42</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48</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5/21/2026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5/21/2026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9.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3.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3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Many data mining algorithms require searching for the 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Many data mining solutions use search for the most similar or dissimilar cases</a:t>
            </a:r>
          </a:p>
          <a:p>
            <a:r>
              <a:rPr lang="en-US" dirty="0">
                <a:latin typeface="+mn-lt"/>
              </a:rPr>
              <a:t>Searching for similar documents</a:t>
            </a:r>
          </a:p>
          <a:p>
            <a:r>
              <a:rPr lang="en-US" dirty="0">
                <a:latin typeface="+mn-lt"/>
              </a:rPr>
              <a:t>Searching for similar images</a:t>
            </a:r>
          </a:p>
          <a:p>
            <a:r>
              <a:rPr lang="en-US" dirty="0">
                <a:latin typeface="+mn-lt"/>
              </a:rPr>
              <a:t>Web search</a:t>
            </a:r>
          </a:p>
          <a:p>
            <a:r>
              <a:rPr lang="en-US" dirty="0">
                <a:latin typeface="+mn-lt"/>
              </a:rPr>
              <a:t>Discovering similar mRNA sequences </a:t>
            </a:r>
          </a:p>
          <a:p>
            <a:r>
              <a:rPr lang="en-US" dirty="0">
                <a:latin typeface="+mn-lt"/>
              </a:rPr>
              <a:t>Finding the most similar sensor streams </a:t>
            </a:r>
          </a:p>
          <a:p>
            <a:r>
              <a:rPr lang="en-US" dirty="0">
                <a:latin typeface="+mn-lt"/>
              </a:rPr>
              <a:t>Finding similar products for recommendation </a:t>
            </a:r>
          </a:p>
          <a:p>
            <a:r>
              <a:rPr lang="en-US" dirty="0">
                <a:latin typeface="+mn-lt"/>
              </a:rPr>
              <a:t>And many others……………….. </a:t>
            </a:r>
          </a:p>
          <a:p>
            <a:endParaRPr lang="en-US" sz="2800" dirty="0">
              <a:latin typeface="+mn-lt"/>
            </a:endParaRPr>
          </a:p>
          <a:p>
            <a:pPr lvl="1"/>
            <a:endParaRPr lang="en-US" dirty="0"/>
          </a:p>
        </p:txBody>
      </p:sp>
    </p:spTree>
    <p:extLst>
      <p:ext uri="{BB962C8B-B14F-4D97-AF65-F5344CB8AC3E}">
        <p14:creationId xmlns:p14="http://schemas.microsoft.com/office/powerpoint/2010/main" val="3043109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Distance (similarity) metrics </a:t>
                </a:r>
                <a:r>
                  <a:rPr lang="en-US" sz="3200" b="1" dirty="0">
                    <a:latin typeface="+mn-lt"/>
                  </a:rPr>
                  <a:t>map two vector valued variables </a:t>
                </a:r>
                <a:r>
                  <a:rPr lang="en-US" sz="3200" dirty="0">
                    <a:latin typeface="+mn-lt"/>
                  </a:rPr>
                  <a:t>to a </a:t>
                </a:r>
                <a:r>
                  <a:rPr lang="en-US" sz="3200" b="1" dirty="0">
                    <a:latin typeface="+mn-lt"/>
                  </a:rPr>
                  <a:t>real valued scalar</a:t>
                </a:r>
              </a:p>
              <a:p>
                <a:pPr marL="0" indent="0">
                  <a:buNone/>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𝑑</m:t>
                      </m:r>
                      <m:d>
                        <m:dPr>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e>
                      </m:d>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r="-212"/>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ctrlPr>
                                    <a:rPr lang="en-US" sz="2400" i="1" smtClean="0">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But, weighting is problem dependent!</a:t>
            </a:r>
          </a:p>
          <a:p>
            <a:pPr lvl="1"/>
            <a:r>
              <a:rPr lang="en-US" dirty="0">
                <a:latin typeface="+mn-lt"/>
              </a:rPr>
              <a:t>Unfortunately, no simple procedure for correct weighting</a:t>
            </a:r>
          </a:p>
          <a:p>
            <a:pPr lvl="1"/>
            <a:r>
              <a:rPr lang="en-US" dirty="0">
                <a:latin typeface="+mn-lt"/>
              </a:rPr>
              <a:t>Do I care more about the (ordinal) star rating or calories of the meal (numeric) when choosing a restaurant? </a:t>
            </a: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argPr>
                            <m:argSz m:val="-1"/>
                          </m:argP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r>
                  <a:rPr lang="en-US" dirty="0">
                    <a:latin typeface="+mn-lt"/>
                  </a:rPr>
                  <a:t>FAISS only supports dot product similarity</a:t>
                </a:r>
              </a:p>
              <a:p>
                <a:pPr marL="0" indent="0">
                  <a:buNone/>
                </a:pPr>
                <a:endParaRPr lang="en-US" dirty="0">
                  <a:latin typeface="+mn-lt"/>
                </a:endParaRPr>
              </a:p>
            </p:txBody>
          </p:sp>
        </mc:Choice>
        <mc:Fallback>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h</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h</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12115</TotalTime>
  <Words>3156</Words>
  <Application>Microsoft Office PowerPoint</Application>
  <PresentationFormat>Widescreen</PresentationFormat>
  <Paragraphs>542</Paragraphs>
  <Slides>48</Slides>
  <Notes>41</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48</vt:i4>
      </vt:variant>
    </vt:vector>
  </HeadingPairs>
  <TitlesOfParts>
    <vt:vector size="56"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Measuring similarity and dissimilarity</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279</cp:revision>
  <dcterms:created xsi:type="dcterms:W3CDTF">2021-06-01T18:04:30Z</dcterms:created>
  <dcterms:modified xsi:type="dcterms:W3CDTF">2026-05-22T02:51:35Z</dcterms:modified>
</cp:coreProperties>
</file>